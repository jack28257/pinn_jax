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9b0c87bee44347" /><Relationship Type="http://schemas.openxmlformats.org/officeDocument/2006/relationships/extended-properties" Target="/docProps/app.xml" Id="R91123339acae490c" /><Relationship Type="http://schemas.openxmlformats.org/officeDocument/2006/relationships/officeDocument" Target="/ppt/presentation.xml" Id="R5b0a9c7f182a4a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4446f48b2f42af"/>
  </p:sldMasterIdLst>
  <p:notesMasterIdLst>
    <p:notesMasterId xmlns:r="http://schemas.openxmlformats.org/officeDocument/2006/relationships" r:id="Raa4279fded7e4ca6"/>
  </p:notesMasterIdLst>
  <p:sldIdLst>
    <p:sldId xmlns:r="http://schemas.openxmlformats.org/officeDocument/2006/relationships" id="256" r:id="R26edbf16602f4779"/>
    <p:sldId xmlns:r="http://schemas.openxmlformats.org/officeDocument/2006/relationships" id="257" r:id="Rb32e8fd4ac7b40d1"/>
    <p:sldId xmlns:r="http://schemas.openxmlformats.org/officeDocument/2006/relationships" id="258" r:id="Rfb6a87e34e5a4cbb"/>
    <p:sldId xmlns:r="http://schemas.openxmlformats.org/officeDocument/2006/relationships" id="259" r:id="R50f6171216134924"/>
    <p:sldId xmlns:r="http://schemas.openxmlformats.org/officeDocument/2006/relationships" id="260" r:id="Rac92bb4d495240a6"/>
    <p:sldId xmlns:r="http://schemas.openxmlformats.org/officeDocument/2006/relationships" id="261" r:id="Re04be037c508487f"/>
    <p:sldId xmlns:r="http://schemas.openxmlformats.org/officeDocument/2006/relationships" id="262" r:id="R4b1165a17d864d99"/>
    <p:sldId xmlns:r="http://schemas.openxmlformats.org/officeDocument/2006/relationships" id="263" r:id="R261e247f93f14bf7"/>
    <p:sldId xmlns:r="http://schemas.openxmlformats.org/officeDocument/2006/relationships" id="264" r:id="Rcad402b669a24c06"/>
    <p:sldId xmlns:r="http://schemas.openxmlformats.org/officeDocument/2006/relationships" id="265" r:id="R3aaec3dafdea472d"/>
    <p:sldId xmlns:r="http://schemas.openxmlformats.org/officeDocument/2006/relationships" id="266" r:id="R6bf94a78c8924e78"/>
    <p:sldId xmlns:r="http://schemas.openxmlformats.org/officeDocument/2006/relationships" id="267" r:id="R003b290427134593"/>
    <p:sldId xmlns:r="http://schemas.openxmlformats.org/officeDocument/2006/relationships" id="268" r:id="Re44bce28fca44b0f"/>
    <p:sldId xmlns:r="http://schemas.openxmlformats.org/officeDocument/2006/relationships" id="269" r:id="Rb377d2805fda49a2"/>
    <p:sldId xmlns:r="http://schemas.openxmlformats.org/officeDocument/2006/relationships" id="270" r:id="R3a1b004cb54147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dd6d9e7fff4d56" /><Relationship Type="http://schemas.openxmlformats.org/officeDocument/2006/relationships/slideMaster" Target="/ppt/slideMasters/slideMaster1.xml" Id="R364446f48b2f42af" /><Relationship Type="http://schemas.openxmlformats.org/officeDocument/2006/relationships/notesMaster" Target="/ppt/notesMasters/notesMaster1.xml" Id="Raa4279fded7e4ca6" /><Relationship Type="http://schemas.openxmlformats.org/officeDocument/2006/relationships/presProps" Target="/ppt/presProps.xml" Id="Rebdeefe6b61d411c" /><Relationship Type="http://schemas.openxmlformats.org/officeDocument/2006/relationships/viewProps" Target="/ppt/viewProps.xml" Id="Rf26bdbf3f2874aff" /><Relationship Type="http://schemas.openxmlformats.org/officeDocument/2006/relationships/tableStyles" Target="/ppt/tableStyles.xml" Id="Rb6ef3b3898d94bc8" /><Relationship Type="http://schemas.openxmlformats.org/officeDocument/2006/relationships/slide" Target="/ppt/slides/slide1.xml" Id="R26edbf16602f4779" /><Relationship Type="http://schemas.openxmlformats.org/officeDocument/2006/relationships/slide" Target="/ppt/slides/slide2.xml" Id="Rb32e8fd4ac7b40d1" /><Relationship Type="http://schemas.openxmlformats.org/officeDocument/2006/relationships/slide" Target="/ppt/slides/slide3.xml" Id="Rfb6a87e34e5a4cbb" /><Relationship Type="http://schemas.openxmlformats.org/officeDocument/2006/relationships/slide" Target="/ppt/slides/slide4.xml" Id="R50f6171216134924" /><Relationship Type="http://schemas.openxmlformats.org/officeDocument/2006/relationships/slide" Target="/ppt/slides/slide5.xml" Id="Rac92bb4d495240a6" /><Relationship Type="http://schemas.openxmlformats.org/officeDocument/2006/relationships/slide" Target="/ppt/slides/slide6.xml" Id="Re04be037c508487f" /><Relationship Type="http://schemas.openxmlformats.org/officeDocument/2006/relationships/slide" Target="/ppt/slides/slide7.xml" Id="R4b1165a17d864d99" /><Relationship Type="http://schemas.openxmlformats.org/officeDocument/2006/relationships/slide" Target="/ppt/slides/slide8.xml" Id="R261e247f93f14bf7" /><Relationship Type="http://schemas.openxmlformats.org/officeDocument/2006/relationships/slide" Target="/ppt/slides/slide9.xml" Id="Rcad402b669a24c06" /><Relationship Type="http://schemas.openxmlformats.org/officeDocument/2006/relationships/slide" Target="/ppt/slides/slide10.xml" Id="R3aaec3dafdea472d" /><Relationship Type="http://schemas.openxmlformats.org/officeDocument/2006/relationships/slide" Target="/ppt/slides/slide11.xml" Id="R6bf94a78c8924e78" /><Relationship Type="http://schemas.openxmlformats.org/officeDocument/2006/relationships/slide" Target="/ppt/slides/slide12.xml" Id="R003b290427134593" /><Relationship Type="http://schemas.openxmlformats.org/officeDocument/2006/relationships/slide" Target="/ppt/slides/slide13.xml" Id="Re44bce28fca44b0f" /><Relationship Type="http://schemas.openxmlformats.org/officeDocument/2006/relationships/slide" Target="/ppt/slides/slide14.xml" Id="Rb377d2805fda49a2" /><Relationship Type="http://schemas.openxmlformats.org/officeDocument/2006/relationships/slide" Target="/ppt/slides/slide15.xml" Id="R3a1b004cb54147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c6924379e642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07237c31bd4357" /><Relationship Type="http://schemas.openxmlformats.org/officeDocument/2006/relationships/notesMaster" Target="/ppt/notesMasters/notesMaster1.xml" Id="Rade828b9761543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9b06abf70f4e14" /><Relationship Type="http://schemas.openxmlformats.org/officeDocument/2006/relationships/notesMaster" Target="/ppt/notesMasters/notesMaster1.xml" Id="Ra0fc4cdc54c64f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0f5fcecd3d4570" /><Relationship Type="http://schemas.openxmlformats.org/officeDocument/2006/relationships/notesMaster" Target="/ppt/notesMasters/notesMaster1.xml" Id="R8c884cefe48249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1967e6e11a474f" /><Relationship Type="http://schemas.openxmlformats.org/officeDocument/2006/relationships/notesMaster" Target="/ppt/notesMasters/notesMaster1.xml" Id="Rf00a3a99151643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976fcc39c6478e" /><Relationship Type="http://schemas.openxmlformats.org/officeDocument/2006/relationships/notesMaster" Target="/ppt/notesMasters/notesMaster1.xml" Id="Rfa8ea04362fe42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624eaf46e545e2" /><Relationship Type="http://schemas.openxmlformats.org/officeDocument/2006/relationships/notesMaster" Target="/ppt/notesMasters/notesMaster1.xml" Id="Ra0a0b6ff60314b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0277d9d9444f8d" /><Relationship Type="http://schemas.openxmlformats.org/officeDocument/2006/relationships/notesMaster" Target="/ppt/notesMasters/notesMaster1.xml" Id="R03c4908e86f04a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50b28d3f81459f" /><Relationship Type="http://schemas.openxmlformats.org/officeDocument/2006/relationships/notesMaster" Target="/ppt/notesMasters/notesMaster1.xml" Id="R38c8284e471844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1ce6b603f7414c" /><Relationship Type="http://schemas.openxmlformats.org/officeDocument/2006/relationships/notesMaster" Target="/ppt/notesMasters/notesMaster1.xml" Id="R1d47bb76eeb944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80a5a1bfd24424" /><Relationship Type="http://schemas.openxmlformats.org/officeDocument/2006/relationships/notesMaster" Target="/ppt/notesMasters/notesMaster1.xml" Id="Rab10dc58af4b40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d40b4aad3240a5" /><Relationship Type="http://schemas.openxmlformats.org/officeDocument/2006/relationships/notesMaster" Target="/ppt/notesMasters/notesMaster1.xml" Id="Rc84c6c914b3f4f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7b759ec9b14799" /><Relationship Type="http://schemas.openxmlformats.org/officeDocument/2006/relationships/notesMaster" Target="/ppt/notesMasters/notesMaster1.xml" Id="Rc4a74ee5cb9b40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4c35a73d144583" /><Relationship Type="http://schemas.openxmlformats.org/officeDocument/2006/relationships/notesMaster" Target="/ppt/notesMasters/notesMaster1.xml" Id="Rcda9747db27241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ec1d7e631e4f56" /><Relationship Type="http://schemas.openxmlformats.org/officeDocument/2006/relationships/notesMaster" Target="/ppt/notesMasters/notesMaster1.xml" Id="R911b66b7cff947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8aaa8387444716" /><Relationship Type="http://schemas.openxmlformats.org/officeDocument/2006/relationships/notesMaster" Target="/ppt/notesMasters/notesMaster1.xml" Id="R0d10152b016e4e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539d6a4254b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9e9e60bf47437d" /><Relationship Type="http://schemas.openxmlformats.org/officeDocument/2006/relationships/slideLayout" Target="/ppt/slideLayouts/slideLayout1.xml" Id="R69881aa81f8c4b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881aa81f8c4b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c4dac524141d7" /><Relationship Type="http://schemas.openxmlformats.org/officeDocument/2006/relationships/notesSlide" Target="/ppt/notesSlides/notesSlide1.xml" Id="R0687ba7b4a0248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80591e93346d5" /><Relationship Type="http://schemas.openxmlformats.org/officeDocument/2006/relationships/image" Target="/ppt/media/image.png" Id="R697931e14fd24615" /><Relationship Type="http://schemas.openxmlformats.org/officeDocument/2006/relationships/notesSlide" Target="/ppt/notesSlides/notesSlide2.xml" Id="Rf26f204db0f046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3cd3f47044606" /><Relationship Type="http://schemas.openxmlformats.org/officeDocument/2006/relationships/notesSlide" Target="/ppt/notesSlides/notesSlide3.xml" Id="R6745f7328fc744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6d5f301a5432b" /><Relationship Type="http://schemas.openxmlformats.org/officeDocument/2006/relationships/image" Target="/ppt/media/image2.png" Id="R6751b3b5915b42de" /><Relationship Type="http://schemas.openxmlformats.org/officeDocument/2006/relationships/notesSlide" Target="/ppt/notesSlides/notesSlide4.xml" Id="R41e958a7fde945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27a4a526d4f89" /><Relationship Type="http://schemas.openxmlformats.org/officeDocument/2006/relationships/notesSlide" Target="/ppt/notesSlides/notesSlide5.xml" Id="R17916624a87045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c5c589e174a03" /><Relationship Type="http://schemas.openxmlformats.org/officeDocument/2006/relationships/image" Target="/ppt/media/image3.png" Id="Re19bc56c32124c96" /><Relationship Type="http://schemas.openxmlformats.org/officeDocument/2006/relationships/notesSlide" Target="/ppt/notesSlides/notesSlide6.xml" Id="R4b5905b0832d4d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b2e547dd84508" /><Relationship Type="http://schemas.openxmlformats.org/officeDocument/2006/relationships/image" Target="/ppt/media/image4.png" Id="R73cd5573c27a4204" /><Relationship Type="http://schemas.openxmlformats.org/officeDocument/2006/relationships/notesSlide" Target="/ppt/notesSlides/notesSlide7.xml" Id="Re3ede830054646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584ca29324147" /><Relationship Type="http://schemas.openxmlformats.org/officeDocument/2006/relationships/notesSlide" Target="/ppt/notesSlides/notesSlide8.xml" Id="R4a8ab7c0baa54b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e5ab861164967" /><Relationship Type="http://schemas.openxmlformats.org/officeDocument/2006/relationships/image" Target="/ppt/media/image5.png" Id="R5acc5826d679428a" /><Relationship Type="http://schemas.openxmlformats.org/officeDocument/2006/relationships/notesSlide" Target="/ppt/notesSlides/notesSlide9.xml" Id="Ra3e7822e5de34f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d0ec78c62468c" /><Relationship Type="http://schemas.openxmlformats.org/officeDocument/2006/relationships/image" Target="/ppt/media/image6.png" Id="R9e2cc1e39af24e34" /><Relationship Type="http://schemas.openxmlformats.org/officeDocument/2006/relationships/notesSlide" Target="/ppt/notesSlides/notesSlide10.xml" Id="Re5ee9462c1c645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f87576e544fd1" /><Relationship Type="http://schemas.openxmlformats.org/officeDocument/2006/relationships/image" Target="/ppt/media/image7.png" Id="R1f7f4e60c1714be4" /><Relationship Type="http://schemas.openxmlformats.org/officeDocument/2006/relationships/notesSlide" Target="/ppt/notesSlides/notesSlide11.xml" Id="R1af754643d1e46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0732dd2684ad7" /><Relationship Type="http://schemas.openxmlformats.org/officeDocument/2006/relationships/image" Target="/ppt/media/image8.png" Id="R94162369fd7c4ccd" /><Relationship Type="http://schemas.openxmlformats.org/officeDocument/2006/relationships/notesSlide" Target="/ppt/notesSlides/notesSlide12.xml" Id="R299b4a3879ca4d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003945d3e4b3f" /><Relationship Type="http://schemas.openxmlformats.org/officeDocument/2006/relationships/image" Target="/ppt/media/image9.png" Id="R524c6308eb4a47e1" /><Relationship Type="http://schemas.openxmlformats.org/officeDocument/2006/relationships/notesSlide" Target="/ppt/notesSlides/notesSlide13.xml" Id="R2b6f21665acc46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be889b87a47c9" /><Relationship Type="http://schemas.openxmlformats.org/officeDocument/2006/relationships/notesSlide" Target="/ppt/notesSlides/notesSlide14.xml" Id="R01bb5f3aab8e4f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3cf679e2f48c2" /><Relationship Type="http://schemas.openxmlformats.org/officeDocument/2006/relationships/notesSlide" Target="/ppt/notesSlides/notesSlide15.xml" Id="Rd075753abbb748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62255-B5BA-4BED-8AD3-DFF8D137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B6BBB-536A-443A-968E-667A0EA6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SSC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EC495-AE35-4F6F-8F5B-6EA89585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5A039-A3E2-4592-AA07-B380C604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Current-Based Bayesian Inference</a:t>
            </a:r>
          </a:p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for a 1D Poisson-Nernst-Planck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610FA-A047-4E84-B7A7-149DDBA3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A parametric physics-informed neural network as an amortized forward surrogate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D6108-178B-4BDB-A9A3-37383E43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85875"/>
            <a:ext cx="29337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2BA13-3C45-4A50-9F9E-4FCB3499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85875"/>
            <a:ext cx="2933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E5411-097E-44F4-992A-9611221C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PROJECT IN ONE 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8D13F-C389-4423-881E-3546CB3A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52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05A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05A2A"/>
                </a:solidFill>
                <a:latin typeface="Arial"/>
                <a:ea typeface="Arial"/>
                <a:cs typeface="Arial"/>
              </a:rPr>
              <a:t>current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76F99-B385-41C2-83A2-5E260844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1962150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D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FA7C2-0309-402C-B228-725C1B60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955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DFBE6-7325-4FDC-BE44-11C22F41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718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7D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D55"/>
                </a:solidFill>
                <a:latin typeface="Arial"/>
                <a:ea typeface="Arial"/>
                <a:cs typeface="Arial"/>
              </a:rPr>
              <a:t>posterior over</a:t>
            </a:r>
          </a:p>
          <a:p xmlns:a="http://schemas.openxmlformats.org/drawingml/2006/main">
            <a:pPr algn="l">
              <a:defRPr sz="1650" b="1">
                <a:solidFill>
                  <a:srgbClr val="3F7D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D55"/>
                </a:solidFill>
                <a:latin typeface="Arial"/>
                <a:ea typeface="Arial"/>
                <a:cs typeface="Arial"/>
              </a:rPr>
              <a:t>Dp and Dn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D80F0-C786-45C8-9C97-7819A689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Jack Jia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FEFF1-2A81-4B62-AC1A-AB24B5D7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June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C1725-06C9-4418-BEA9-A26AE427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9626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Society of Statistics Canada</a:t>
            </a:r>
          </a:p>
        </p:txBody>
      </p:sp>
    </p:spTree>
    <p:extLst>
      <p:ext uri="{BB962C8B-B14F-4D97-AF65-F5344CB8AC3E}">
        <p14:creationId xmlns:p14="http://schemas.microsoft.com/office/powerpoint/2010/main" val="11016312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A02691-4FFB-4772-9BE2-EA46C030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3516F-7C9C-444D-9EA3-4994E2CF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4682E-0692-4762-950D-A38C37BA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1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EA9FD-D094-4BD8-BE60-5EFE16BF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E6377-F94F-47EB-8EAC-13F74418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79FDB-B572-4AF5-8B87-A6031877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PNP is a coupled model of charged particles and an electric field.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BC575-DD0B-4F63-A614-DC49E5DE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The inference target is physical: the diffusion rates of the positive and negative species.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931e14fd24615"/>
          <a:stretch xmlns:a="http://schemas.openxmlformats.org/drawingml/2006/main"/>
        </p:blipFill>
        <p:spPr>
          <a:xfrm xmlns:a="http://schemas.openxmlformats.org/drawingml/2006/main">
            <a:off x="2089499" y="2333625"/>
            <a:ext cx="8013002" cy="3143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FE107-58FE-42FB-A395-C0EA2ED6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C4B28-5C7B-4928-9170-FB7975A0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0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7736D"/>
                </a:solidFill>
                <a:latin typeface="Arial"/>
                <a:ea typeface="Arial"/>
                <a:cs typeface="Arial"/>
              </a:rPr>
              <a:t>PNP context: dynamic ion transport coupled to electrostatics.</a:t>
            </a:r>
          </a:p>
        </p:txBody>
      </p:sp>
    </p:spTree>
    <p:extLst>
      <p:ext uri="{BB962C8B-B14F-4D97-AF65-F5344CB8AC3E}">
        <p14:creationId xmlns:p14="http://schemas.microsoft.com/office/powerpoint/2010/main" val="14653599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144A4A-C654-40F3-9C35-0B8766EB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D47BD-A2EA-44A7-BBE8-6AB5F4F9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63D7F-E401-4DCC-8CEF-134B5478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1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6FEFE-C0E0-42F3-9F0E-591E5520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C24C7-10B8-407A-8E37-67C926F8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40563-BBD8-439F-914D-C81A99F6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The bottleneck is repeated forward solves over parameter space.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F07E0-414F-40B7-B3CA-3613ABED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A Bayesian inverse problem may need many candidate evaluations, not just one accurate simulation.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3F377-F612-47B5-A691-EFD6D187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E33B1-E832-4670-AF21-0EEEF894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D3D6A-81A4-495E-849D-1FC1D03D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300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BENCHMARK SOLVER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5351A-E929-4296-8AB0-62DE620F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009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candidate Dp, Dn</a:t>
            </a:r>
          </a:p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-&gt; numerical PDE solve</a:t>
            </a:r>
          </a:p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-&gt; predicted current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23B9F-524E-4705-93B1-A3D73D47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860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40FA5-F395-4B83-9D57-56CC1BE8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8605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7145A-5297-4B48-BB29-5CB8D929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00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PARAMETRIC PINN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60DA2-64E8-49DE-86A9-02CE868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3009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candidate Dp, Dn</a:t>
            </a:r>
          </a:p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-&gt; trained neural surrogate</a:t>
            </a:r>
          </a:p>
          <a:p xmlns:a="http://schemas.openxmlformats.org/drawingml/2006/main">
            <a:pPr algn="l">
              <a:defRPr sz="142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-&gt; predicted current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F8744-8968-4520-A8D4-FA835367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2457450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42BB2-A0C8-4A6E-9018-4676C3C2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623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270C1-B131-4DB2-9D52-D9D23230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147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many times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0642C-5AD5-4F5E-9759-7CFA4FCF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28997-F39D-4476-98BD-74A71BAC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552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The PINN is expensive to train once; it becomes useful when the forward map is reused.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7513D-16B9-4FDE-80E6-5DD71583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D707F5-2CE1-4A83-9FBF-ACF5B746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0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7736D"/>
                </a:solidFill>
                <a:latin typeface="Arial"/>
                <a:ea typeface="Arial"/>
                <a:cs typeface="Arial"/>
              </a:rPr>
              <a:t>Many-query motivation: parametric PDEs and uncertainty quantification.</a:t>
            </a:r>
          </a:p>
        </p:txBody>
      </p:sp>
    </p:spTree>
    <p:extLst>
      <p:ext uri="{BB962C8B-B14F-4D97-AF65-F5344CB8AC3E}">
        <p14:creationId xmlns:p14="http://schemas.microsoft.com/office/powerpoint/2010/main" val="17635630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1FF975-FF92-486E-82C2-163D32F1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215B4-432F-4469-9158-9D9643D5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PINN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A218A-5F48-4128-9B01-770DFD8A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1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A20DD-D1F5-43AA-A4AB-8587FFD4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D16AC-999F-41CD-9C11-0F5F9F09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B78D2-16DF-48C2-B707-4B111345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 PINN trains the solution function by penalizing physics violations.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DBEB2-B55A-4006-AD45-A42F92A9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The network is not given a full table of solution labels; the governing equations enter the loss.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4CAF7-F944-45CE-A1CA-7BCC60A5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2B529-7101-471B-AB04-D5C6DB05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948AD-D2C0-4E42-9FB8-0D4ED8FA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C1082-CDED-47FB-8B16-4CB889B4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196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(x, 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19C21-7A2D-4E6A-8FBD-2159C9EF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09950"/>
            <a:ext cx="981075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4282E-45D6-4F37-BC4B-CBDE1166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3235C-B162-4AAD-B6A4-BE47858D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44A21-7315-4C7B-B06C-C090F3EB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F8103-D416-4C82-BAD2-3AA430C0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432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AE500-C224-4541-955F-7AACE351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962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u_theta(x,t)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approximate solution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8AE0B-7DDF-4BC6-986D-6B4F60C0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09950"/>
            <a:ext cx="981075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C8039-89FB-4A9C-83CF-196297C9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956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F1174-2585-4549-A11D-0F86907F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3C80B-1055-48CF-B47D-69E11BC5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C5E2DF-B4F1-4DDF-8827-5CB46A54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5A2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05A2A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5511B-952F-4F03-BDC7-B250E51C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PDE = 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1b3b5915b42de"/>
          <a:stretch xmlns:a="http://schemas.openxmlformats.org/drawingml/2006/main"/>
        </p:blipFill>
        <p:spPr>
          <a:xfrm xmlns:a="http://schemas.openxmlformats.org/drawingml/2006/main">
            <a:off x="2186573" y="4857750"/>
            <a:ext cx="7818853" cy="6858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D67FC-574D-4B24-8470-BA9824CF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0DCC1-073A-4ABF-97B6-DF94B568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0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7736D"/>
                </a:solidFill>
                <a:latin typeface="Arial"/>
                <a:ea typeface="Arial"/>
                <a:cs typeface="Arial"/>
              </a:rPr>
              <a:t>PINN framework: Raissi, Perdikaris, and Karniadakis (2019); Karniadakis et al. (2021).</a:t>
            </a:r>
          </a:p>
        </p:txBody>
      </p:sp>
    </p:spTree>
    <p:extLst>
      <p:ext uri="{BB962C8B-B14F-4D97-AF65-F5344CB8AC3E}">
        <p14:creationId xmlns:p14="http://schemas.microsoft.com/office/powerpoint/2010/main" val="14373480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B73C90-1369-4656-A2B3-A8343CA8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88CD3-0B22-42CC-9209-3D25396D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PARAMETRIC SURROGATE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917A5-14C6-434B-9A84-039643E4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1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B0733-E04B-41D9-B7E5-D7709FAB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1586F-1AD1-4E7A-AFE7-B2AC784A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D7651-F227-42C7-8772-A3775D56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Adding Dp and Dn to the input turns one network into a family of solvers.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A2F70-9E11-4513-96E1-5C8FDDF3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This is the step that makes the trained PINN useful for inverse inference.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029EE-5FC0-4F70-99E4-1F9A3EE7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D4C82-36D7-4654-A980-2B8D68BC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352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BDC2E-3A37-4121-9E0E-92DDA95B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ORDINARY PINN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774EA-0E84-4056-AF9C-06F3F5E1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(x, t) -&gt; one PDE 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7CFF7-957F-4B1D-A3A4-64F90D5D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8125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AFD85-0814-46F0-9EAF-EAD3A20F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812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0992A-87A9-4ECC-99C2-2EDF0DED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PARAMETRIC PINN USED HERE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A7621-C01E-4332-BE22-2DC46435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(x, t, Dp, Dn) -&gt; (c_p, c_n, phi)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79B4A-44DE-48C6-9009-D3AE137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Dp, Dn in [0.5, 2.0]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19114-4BAA-4B02-88D4-380D99A0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76625"/>
            <a:ext cx="857250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E1943-BC97-45AC-87B1-D52934EE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623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5AC9F-17AA-4F16-8DCA-02ECBAC2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parameter inputs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8B731-C052-44E0-8B32-659232C4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292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41EF8-9702-41BE-9DB8-AE0B95A6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43500"/>
            <a:ext cx="7067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Candidate parameters become ordinary neural-network inputs.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FA781-63DD-4421-A086-C0D9E206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29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7BA74-DEC8-4654-85E7-9284C824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43550"/>
            <a:ext cx="7067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The inverse problem can evaluate many candidates without retraining.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3C825E-4618-42B0-8FC1-E56C1A33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31AE4-E480-4AA8-B45A-D17CABB7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0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7736D"/>
                </a:solidFill>
                <a:latin typeface="Arial"/>
                <a:ea typeface="Arial"/>
                <a:cs typeface="Arial"/>
              </a:rPr>
              <a:t>Parameterized PDE motivation: Cho et al. (2024); Le Boudec et al. (2025).</a:t>
            </a:r>
          </a:p>
        </p:txBody>
      </p:sp>
    </p:spTree>
    <p:extLst>
      <p:ext uri="{BB962C8B-B14F-4D97-AF65-F5344CB8AC3E}">
        <p14:creationId xmlns:p14="http://schemas.microsoft.com/office/powerpoint/2010/main" val="19817061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966DF1-D137-48C8-8E1C-CF5C6143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3B013-A13B-469C-9AEE-7EFCF038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FORWARD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5AD57-627F-4C0F-81D5-A45C1C31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1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F5AD5-6F97-4CA0-BE47-BF4952C9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C8FF8-E96E-472E-9EA7-82396B9C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426E6-94A5-4C3F-9477-D6F25C7B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The benchmark is controlled: 1D, nondimensional, and blocking-electrode.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0AA95-DC07-4379-BABC-DF7F9576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09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FEE9C-216F-43D3-B705-31041D11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bc56c32124c96"/>
          <a:stretch xmlns:a="http://schemas.openxmlformats.org/drawingml/2006/main"/>
        </p:blipFill>
        <p:spPr>
          <a:xfrm xmlns:a="http://schemas.openxmlformats.org/drawingml/2006/main">
            <a:off x="1085850" y="2519444"/>
            <a:ext cx="5572125" cy="117141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E63B6-EAE5-4D50-982F-96A00A89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547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The equations couple diffusion, electric drift, conservation of each species, and Poisson electrostatics.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F932C-36C8-452A-9D4C-0C947CBD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5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D3BD7-ED8C-4E22-B3BE-30E04F1A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649E0-E08F-49EE-A8EA-CF0B53E5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19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5A2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05A2A"/>
                </a:solidFill>
                <a:latin typeface="Arial"/>
                <a:ea typeface="Arial"/>
                <a:cs typeface="Arial"/>
              </a:rPr>
              <a:t>ACTIVE SETUP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B48B5-489C-452E-BD69-B6C970F1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05125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x in [0, 1],  t in [0, 0.2]</a:t>
            </a:r>
          </a:p>
          <a:p xmlns:a="http://schemas.openxmlformats.org/drawingml/2006/main">
            <a:pPr algn="l">
              <a:defRPr sz="120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Dp, Dn in [0.5, 2.0]</a:t>
            </a:r>
          </a:p>
          <a:p xmlns:a="http://schemas.openxmlformats.org/drawingml/2006/main">
            <a:pPr algn="l">
              <a:defRPr sz="120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phi(0,t) = -0.5,  phi(1,t) = 0.5</a:t>
            </a:r>
          </a:p>
          <a:p xmlns:a="http://schemas.openxmlformats.org/drawingml/2006/main">
            <a:pPr algn="l">
              <a:defRPr sz="120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Jp = Jn = 0 at both walls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D7F30-A6F9-4F2C-A59C-79BE4273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91125"/>
            <a:ext cx="828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Blocking electrodes: ions do not cross the boundary, but charging current can still be measured.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53989-1BA3-49D6-8F1D-DA31107A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2CD5CF-F53B-4444-8BC7-BF732ACD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0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7736D"/>
                </a:solidFill>
                <a:latin typeface="Arial"/>
                <a:ea typeface="Arial"/>
                <a:cs typeface="Arial"/>
              </a:rPr>
              <a:t>Dynamic PNP systems are strongly coupled and nonlinear; see Huang et al. (2024).</a:t>
            </a:r>
          </a:p>
        </p:txBody>
      </p:sp>
    </p:spTree>
    <p:extLst>
      <p:ext uri="{BB962C8B-B14F-4D97-AF65-F5344CB8AC3E}">
        <p14:creationId xmlns:p14="http://schemas.microsoft.com/office/powerpoint/2010/main" val="9206298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0B087E-99F1-48DB-82CB-C783D90F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6B31B-9D9E-44E6-BB68-4BC1A068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B438B-DDCF-49ED-83EE-66F847F7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1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AD23B-FEA6-4A47-923A-CFE882F7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0D7A1-BD2B-4BF8-B310-C97B67B8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57CBE-6C06-4B82-93AA-50288325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Training builds the surrogate; the reference solver is not used as a label 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D6FFE-9DB3-43EA-B6B9-7EBB182D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The reference model is held for validation and synthetic current generation.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85B0A-D791-41FB-9B72-B6C5899A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47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C3088-E4F8-4518-A156-C62A571A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F9C79-B5C4-4A26-8454-A877F591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PHYSICS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82BED-47F7-408D-B772-3BEF5D07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205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PDE residuals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5F16D-D29C-46A2-8D0E-103CB2B7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247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4D7B3-50FE-4611-867F-32B24BE2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725A2-24B1-42B0-BB30-40B0598D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718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CONSTRAINTS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91846-81A5-4A48-9652-BB925010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205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initial and boundary conditions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1DB84-1775-4098-B8B9-20744678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00350"/>
            <a:ext cx="247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EEAEE-EE39-40AF-AA9B-DD746181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003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BBC22-1FBE-48A7-89F7-68586E3C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718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5A2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05A2A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2F34E-4EA2-47C9-AC5E-BDC4BAA7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205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sampling over Dp, Dn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2C9B5-3100-4D17-A80A-6D8C9A58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d5573c27a4204"/>
          <a:stretch xmlns:a="http://schemas.openxmlformats.org/drawingml/2006/main"/>
        </p:blipFill>
        <p:spPr>
          <a:xfrm xmlns:a="http://schemas.openxmlformats.org/drawingml/2006/main">
            <a:off x="3716431" y="4705350"/>
            <a:ext cx="4778188" cy="4191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F770D6-AB61-49B8-802A-8794BDCC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86250"/>
            <a:ext cx="1333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5B96A6-9715-4B82-9231-4C7D6ECF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862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4B68D-5B00-4125-A625-7AA807A0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577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500k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42BDB2-D3F1-446A-8100-338D0D4F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1965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training steps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864974-7BE1-4F08-93DB-093FFED4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1188FA-35D6-46D4-B1AB-4CEFB56E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0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7736D"/>
                </a:solidFill>
                <a:latin typeface="Arial"/>
                <a:ea typeface="Arial"/>
                <a:cs typeface="Arial"/>
              </a:rPr>
              <a:t>Main run: 8-layer tanh MLP, width 256, JAX / Equinox, hard initial condition and voltage boundary.</a:t>
            </a:r>
          </a:p>
        </p:txBody>
      </p:sp>
    </p:spTree>
    <p:extLst>
      <p:ext uri="{BB962C8B-B14F-4D97-AF65-F5344CB8AC3E}">
        <p14:creationId xmlns:p14="http://schemas.microsoft.com/office/powerpoint/2010/main" val="20911942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901C0F-83DA-4936-AF3A-9445BA4B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8BFF6-7256-4F31-B226-13F25501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INVERSE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11CAA-6A00-44C9-968E-80153348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1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CD8D0-2797-40E9-9F86-53AF58FB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7AD32-CBA7-4D42-A73B-B3876446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60864-2815-47E2-A6C3-8F257D70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The inverse problem is posed around current, not hidden concentration fields.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0A655-74CB-4567-BCCE-6C65D5D6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The PINN predicts fields internally, but the likelihood compares a measurable signal.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3050E-C1FC-48A7-B737-7DF9722D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08607-DFD5-4185-B4EB-9D56C081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11B4D-8780-4B30-AEAF-D6AE7309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5A2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05A2A"/>
                </a:solidFill>
                <a:latin typeface="Arial"/>
                <a:ea typeface="Arial"/>
                <a:cs typeface="Arial"/>
              </a:rPr>
              <a:t>TRUTH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65148-D423-441E-9FC7-1ED3EC6A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1581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Dp = 1.25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Dn = 1.25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4A3AE-10EB-46C0-B314-754D3CBD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81400"/>
            <a:ext cx="666750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50F3-AE56-4447-8632-F87102AB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67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05A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05A2A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56678-EF09-42CA-96BE-03F7C016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48000"/>
            <a:ext cx="2190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186E0-FDE1-4F68-85EE-3121BC75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480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35952-88C5-4AE3-8EF1-99584BBA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194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9DE72-A5C6-425B-9CD3-8EEE79C9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67100"/>
            <a:ext cx="17716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finite difference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BDF 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3B884-55BD-4649-83E5-F2423D8D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81400"/>
            <a:ext cx="666750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79BF1-339C-4050-BA5A-7C4ADCB9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4D192-3D62-41E7-814B-586D59D4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94B11-B168-4710-808A-5A961F98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7556F-7812-413C-AC09-CAC33BF8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194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560B7-DEEE-4C45-B0F0-CD83AC4D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67100"/>
            <a:ext cx="1581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current I(t)</a:t>
            </a:r>
          </a:p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+ Gaussian noise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60D8B-C59B-4D53-88C0-24C6F2A4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81400"/>
            <a:ext cx="571500" cy="16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68308-B89F-444A-AAC2-58DE11E3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A28BB1-6B0C-407B-B732-25B04C7D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956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F7D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F7D55"/>
                </a:solidFill>
                <a:latin typeface="Arial"/>
                <a:ea typeface="Arial"/>
                <a:cs typeface="Arial"/>
              </a:rPr>
              <a:t>posterior</a:t>
            </a:r>
          </a:p>
          <a:p xmlns:a="http://schemas.openxmlformats.org/drawingml/2006/main">
            <a:pPr algn="ctr">
              <a:defRPr sz="1275" b="1">
                <a:solidFill>
                  <a:srgbClr val="3F7D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F7D55"/>
                </a:solidFill>
                <a:latin typeface="Arial"/>
                <a:ea typeface="Arial"/>
                <a:cs typeface="Arial"/>
              </a:rPr>
              <a:t>p(Dp,Dn | I)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145CD6-6ED6-481D-84DB-5C4815B8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43500"/>
            <a:ext cx="795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79 current intervals, 2% relative Gaussian noise, uniform prior on the parameter box.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285D7F-7B12-415C-95B4-6B39712B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D7D268-34CC-4527-B5FB-7DC9DD8F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0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7736D"/>
                </a:solidFill>
                <a:latin typeface="Arial"/>
                <a:ea typeface="Arial"/>
                <a:cs typeface="Arial"/>
              </a:rPr>
              <a:t>Synthetic data come from the independent benchmark model; inference uses the trained PINN surrogate.</a:t>
            </a:r>
          </a:p>
        </p:txBody>
      </p:sp>
    </p:spTree>
    <p:extLst>
      <p:ext uri="{BB962C8B-B14F-4D97-AF65-F5344CB8AC3E}">
        <p14:creationId xmlns:p14="http://schemas.microsoft.com/office/powerpoint/2010/main" val="1651447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A9C7AD-88C2-4C3C-86BD-88CD3959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93172-894C-492D-B19C-FE2D583C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CURRENT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30289-E25B-48A2-BFE1-CDBE8F22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1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1B2F1-8B7F-49C8-B380-D12FFC84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069DF-2115-4F9B-80FA-2079DE9E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C814E-C695-4050-81A3-A992B546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The measured quantity is I(t); Q(t) is a stable simulator-side construction.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9A0D3-0CE5-4732-9F05-483CE07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In the blocking-electrode setup, current is charging current through the external circuit.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59C7D-265C-4EE8-8989-4222010D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07CE7-674B-4DE1-94B2-CD822B55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DBBDA-81E3-47EC-BCB7-4A05A3D4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EXPERIMENTAL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B7985-F41C-422B-8FE3-38F0F0A3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00400"/>
            <a:ext cx="2724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external circuit measures current I(t)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452D0-A4B3-4173-95A1-A1F9A177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5381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31FC6-6C7B-4C53-BC0B-41712F53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538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c5826d679428a"/>
          <a:stretch xmlns:a="http://schemas.openxmlformats.org/drawingml/2006/main"/>
        </p:blipFill>
        <p:spPr>
          <a:xfrm xmlns:a="http://schemas.openxmlformats.org/drawingml/2006/main">
            <a:off x="5715000" y="2908380"/>
            <a:ext cx="4810125" cy="669764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59A17-B84D-4843-BEF0-7EA5E039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243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Using Q(t) avoids differentiating the learned potential exactly at the wall.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322E0-2DBC-4B74-892B-3C89F78E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66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This is a modeling choice for the synthetic benchmark, not an assumption that Q(t) is directly measured.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D8944-0E27-43EC-94B2-5264F298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1899A-2530-48E5-9A35-6317930E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0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7736D"/>
                </a:solidFill>
                <a:latin typeface="Arial"/>
                <a:ea typeface="Arial"/>
                <a:cs typeface="Arial"/>
              </a:rPr>
              <a:t>Current construction follows the Gauss-law electrode charge identity used in the code.</a:t>
            </a:r>
          </a:p>
        </p:txBody>
      </p:sp>
    </p:spTree>
    <p:extLst>
      <p:ext uri="{BB962C8B-B14F-4D97-AF65-F5344CB8AC3E}">
        <p14:creationId xmlns:p14="http://schemas.microsoft.com/office/powerpoint/2010/main" val="16334221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BDEB52-F881-4AC5-B230-1B231FFF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A4476-1BA8-4CE3-BAFE-D3EDAD20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BAYESIAN 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D623E-F1FB-4220-83C8-4CC36963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1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44090-C10D-4870-B9FA-6CFD6757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9DD67-E40B-42BE-9F30-9ED4BCB0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72B19-D06C-468A-B064-F6E66334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Gaussian current errors turn residuals into a posterior over diffusion parameters.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FEDDC-6E55-4D96-8B63-9713078D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The current diagnostic uses a transparent grid posterior before moving to heavier samplers.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92C57-2377-487F-84B8-EE239539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0287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5A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FDC42-CAE9-4643-AFB9-ED5285FA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cc1e39af24e34"/>
          <a:stretch xmlns:a="http://schemas.openxmlformats.org/drawingml/2006/main"/>
        </p:blipFill>
        <p:spPr>
          <a:xfrm xmlns:a="http://schemas.openxmlformats.org/drawingml/2006/main">
            <a:off x="2154414" y="2876550"/>
            <a:ext cx="7826022" cy="1123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5DCC6-C9A8-4AB7-B47B-5A3C02ED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5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41745-2EB4-4CCA-8B15-D98BCB5E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18E91-E5A6-48FF-9AEB-270AF268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244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05A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05A2A"/>
                </a:solidFill>
                <a:latin typeface="Arial"/>
                <a:ea typeface="Arial"/>
                <a:cs typeface="Arial"/>
              </a:rPr>
              <a:t>41 x 41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C66E6-5334-47D6-8F61-6E2EC56D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864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parameter grid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5A328-0678-41B9-B106-6ECCB345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F5834-1C19-4B5E-9F61-BFAF4706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D3216-5CE6-4F25-81B7-E3E94B06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244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uniform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500FC-C853-4E05-81D0-A1DD6732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864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prior over 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E1600-E456-4C5B-978B-DE9C7422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AC21E-B926-4E9E-AA15-0B9112C3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BC7E3-0C94-4C78-B777-B7896AD0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244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9152F-D906-474E-9AE1-FBC40E6A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relative current noise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776D8-EC8C-401F-A0D4-E30C6FF3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4F8B37-F4D3-4E20-A548-9DF99F67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0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7736D"/>
                </a:solidFill>
                <a:latin typeface="Arial"/>
                <a:ea typeface="Arial"/>
                <a:cs typeface="Arial"/>
              </a:rPr>
              <a:t>Bayesian inverse problem framing: posterior uncertainty is the inferential object.</a:t>
            </a:r>
          </a:p>
        </p:txBody>
      </p:sp>
    </p:spTree>
    <p:extLst>
      <p:ext uri="{BB962C8B-B14F-4D97-AF65-F5344CB8AC3E}">
        <p14:creationId xmlns:p14="http://schemas.microsoft.com/office/powerpoint/2010/main" val="9705340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CE6890-41A7-49E7-939F-64E9A0CA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D775E-1FE2-46DE-B826-D3ED9115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80ACF-A46A-4B18-8C30-61264D05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1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B587F-ECDE-4804-975E-287422DE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369F1-35CA-48A7-873A-DD0264CA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DE806-6C91-43ED-ABDC-8E88F4BF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At the MAP point, the PINN-predicted current follows the noisy observations.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f4e60c1714be4"/>
          <a:stretch xmlns:a="http://schemas.openxmlformats.org/drawingml/2006/main"/>
        </p:blipFill>
        <p:spPr>
          <a:xfrm xmlns:a="http://schemas.openxmlformats.org/drawingml/2006/main">
            <a:off x="1047750" y="2179607"/>
            <a:ext cx="7381875" cy="392753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A9AC1-B622-4D4A-B83A-20A25AAC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0A286-3FBA-4855-9001-44A73D7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FCC6A-F4B7-4FC5-8D51-FD201D04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1.25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6BC25-B680-47F6-B6CA-D7C5FAFD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861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MAP Dp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16B18-9C0C-48A7-AFAD-A308FE6A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372C7-D1AF-4507-85BC-FA587B07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FB4B4-FF21-4073-8338-EF1072A5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671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1.2125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C36D7-1656-4DDA-8DDD-661021DE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291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MAP Dn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401E6-BB93-40E3-8915-96E7A061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3870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5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1A546-76E6-425F-8802-73827D6A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387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8EAB4-ED10-4682-B3DF-2543486D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101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05A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05A2A"/>
                </a:solidFill>
                <a:latin typeface="Arial"/>
                <a:ea typeface="Arial"/>
                <a:cs typeface="Arial"/>
              </a:rPr>
              <a:t>79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15F32-5FA5-403A-933A-444E21C2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721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current intervals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7F3BA-2B44-4B42-9F35-AF76B4BB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6CC3A-972A-41BC-886E-3D550BE1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0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7736D"/>
                </a:solidFill>
                <a:latin typeface="Arial"/>
                <a:ea typeface="Arial"/>
                <a:cs typeface="Arial"/>
              </a:rPr>
              <a:t>Observation signal: interval-averaged charging current from the left electrode.</a:t>
            </a:r>
          </a:p>
        </p:txBody>
      </p:sp>
    </p:spTree>
    <p:extLst>
      <p:ext uri="{BB962C8B-B14F-4D97-AF65-F5344CB8AC3E}">
        <p14:creationId xmlns:p14="http://schemas.microsoft.com/office/powerpoint/2010/main" val="7833627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CA325B-D6C2-45C4-B9E8-5D81484C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FC4E4-CE6D-4F7A-A811-75B0FFB3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POSTERIOR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343FA-B50E-496E-9D3A-963E5EC9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1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CEF7F-03DB-4376-A313-AB36F95F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0812B-5473-4A91-9390-F56596C8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24F33-D548-4A94-B614-0EBE308D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The posterior covers the truth and reveals coupled uncertainty between Dp and Dn.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62369fd7c4ccd"/>
          <a:stretch xmlns:a="http://schemas.openxmlformats.org/drawingml/2006/main"/>
        </p:blipFill>
        <p:spPr>
          <a:xfrm xmlns:a="http://schemas.openxmlformats.org/drawingml/2006/main">
            <a:off x="952500" y="1964422"/>
            <a:ext cx="5334000" cy="445315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5BF7D-F412-4C11-A584-FF88C8F8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3524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F7D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15B72-70EB-4C6E-B162-052C94D2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352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8178A-EA00-4A45-A0BE-1EC1D63F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F7D55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D4674-AFAA-42A9-8AD4-367C9C8B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true: Dp = 1.25, Dn = 1.25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CEC59-7677-49C9-A129-153FA595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posterior mean: Dp = 1.2353, Dn = 1.2368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8FD2D-C9D1-49FA-A774-B8E73A3D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95% marginal intervals</a:t>
            </a:r>
          </a:p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Dp: [1.0625, 1.4000]</a:t>
            </a:r>
          </a:p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Dn: [1.0625, 1.4375]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6C61E-231B-45AE-9EBF-35DA524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81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7D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D55"/>
                </a:solidFill>
                <a:latin typeface="Arial"/>
                <a:ea typeface="Arial"/>
                <a:cs typeface="Arial"/>
              </a:rPr>
              <a:t>Truth lies inside both intervals.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B7BC5-E087-4C79-AC96-84BAD2AD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4BF99-3F1F-44B6-B0BC-039B708A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0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7736D"/>
                </a:solidFill>
                <a:latin typeface="Arial"/>
                <a:ea typeface="Arial"/>
                <a:cs typeface="Arial"/>
              </a:rPr>
              <a:t>Posterior grid normalized to total mass 1.0.</a:t>
            </a:r>
          </a:p>
        </p:txBody>
      </p:sp>
    </p:spTree>
    <p:extLst>
      <p:ext uri="{BB962C8B-B14F-4D97-AF65-F5344CB8AC3E}">
        <p14:creationId xmlns:p14="http://schemas.microsoft.com/office/powerpoint/2010/main" val="13549687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DC213F-B66F-49C4-A632-6FFB1B1A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33371-0C56-438D-B6C9-F962A6F2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E3B7F-A358-4BA5-A324-0B515B8C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1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1F1A3-F9A1-477D-98E1-C05EEEF6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E8409-6F53-4FB4-B164-D38A2B0F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813B1-1D9F-45EA-8BD4-6FC7D950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The posterior shape is part of the scientific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A989A-9200-4729-A6CF-EA881A84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The problem is indirect, coupled, and sensitive to both observation noise and surrogate error.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c6308eb4a47e1"/>
          <a:stretch xmlns:a="http://schemas.openxmlformats.org/drawingml/2006/main"/>
        </p:blipFill>
        <p:spPr>
          <a:xfrm xmlns:a="http://schemas.openxmlformats.org/drawingml/2006/main">
            <a:off x="914400" y="2255269"/>
            <a:ext cx="5476875" cy="210933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36641-693E-4327-BA88-DB1B5D90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43125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AEDB4-CBDB-4F32-913B-C1A83D01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81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28DDB-554A-42DB-AB36-A3A36832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95550"/>
            <a:ext cx="2590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The data are current only; c_p, c_n, and phi are not directly observed.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C3C35-00F9-4334-BA78-1DE78539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051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07E41-E15F-477D-88D3-948F67B7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Dp and Dn affect the signal through a coupled nonlinear PDE.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238BE-4CAD-4BDA-80A0-EB9C7680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90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BC40B-96FA-43CB-8DC9-D66609B8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259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The forward map is approximate, so validation against the benchmark remains necessary.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879D6-20EA-4D0E-B1FB-EFBCE9C6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A narrow-looking curve fit is not enough; the posterior shows what the current data actually identify.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DB0C4-665F-4BDA-A16A-D0FCE8EC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6A456-E0B9-4FD2-892E-20071926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0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7736D"/>
                </a:solidFill>
                <a:latin typeface="Arial"/>
                <a:ea typeface="Arial"/>
                <a:cs typeface="Arial"/>
              </a:rPr>
              <a:t>This is why the result is treated as a controlled proof of concept, not a final physical claim.</a:t>
            </a:r>
          </a:p>
        </p:txBody>
      </p:sp>
    </p:spTree>
    <p:extLst>
      <p:ext uri="{BB962C8B-B14F-4D97-AF65-F5344CB8AC3E}">
        <p14:creationId xmlns:p14="http://schemas.microsoft.com/office/powerpoint/2010/main" val="15064471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7FF26C-9EBD-41E7-8BF3-1A085546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02593-C8A0-4CBD-84B9-FBBB9B6F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01266-5C4E-4F5B-9807-88DC9BD5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1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5B06E-F355-48F8-8508-05AC1429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555DE-1E5E-4FEA-979F-680FD97D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4B3AA-93EA-4B44-B5EF-D4F55253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 current-based PINN inverse pipeline is working in a controlled benchmark.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C5150-94CE-496E-A9BE-0EE7738C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B2518-7E9C-4907-98B4-4BD1212E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FE9E3-AC69-4220-BF34-CACD328C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05075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F7D55"/>
                </a:solidFill>
                <a:latin typeface="Arial"/>
                <a:ea typeface="Arial"/>
                <a:cs typeface="Arial"/>
              </a:rPr>
              <a:t>WHAT WORKS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79455-6192-4019-8CE5-822537FA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52725"/>
            <a:ext cx="2438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Current-only synthetic data recover a posterior region that contains the true Dp and Dn.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66177-3AB5-45AF-B896-3ED40A69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C07D6-B600-43B1-AFD0-F53D35DA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40C41-8DBF-44C9-B615-7AD1C65C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05075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WHAT THE PINN DOES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A0D3C-547F-48D0-8C2C-8F35FFA1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52725"/>
            <a:ext cx="2438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It amortizes the forward PNP map across parameter space; it is not the inverse estimator by itself.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264FA-C144-4E38-B8E5-CFCA9EB9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CDE1E-8FDF-45E7-ADE8-70810BA3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5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ECF88-2613-4DFD-B353-01401023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05075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5A2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05A2A"/>
                </a:solidFill>
                <a:latin typeface="Arial"/>
                <a:ea typeface="Arial"/>
                <a:cs typeface="Arial"/>
              </a:rPr>
              <a:t>WHAT COMES 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D2A3F-3BDA-415A-858D-B59FAC40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52725"/>
            <a:ext cx="2438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Stress-test more true parameters, noise levels, sampling schedules, and then replace the grid by MCMC.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7E9F3-EE40-490B-92E7-17518AA8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19650"/>
            <a:ext cx="8667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35CBC-6BA2-4CEE-A4D2-6081E0B0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9110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Main message: train the forward surrogate once, then use measurable current to quantify uncertainty in diffusion parameters.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95A90-4277-4A42-A0E2-8B1D3B1B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8528D-FCF1-4C4F-94F9-D67A7539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001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7736D"/>
                </a:solidFill>
                <a:latin typeface="Arial"/>
                <a:ea typeface="Arial"/>
                <a:cs typeface="Arial"/>
              </a:rPr>
              <a:t>Controlled benchmark today; broader physical realism and sampler scalability are the next steps.</a:t>
            </a:r>
          </a:p>
        </p:txBody>
      </p:sp>
    </p:spTree>
    <p:extLst>
      <p:ext uri="{BB962C8B-B14F-4D97-AF65-F5344CB8AC3E}">
        <p14:creationId xmlns:p14="http://schemas.microsoft.com/office/powerpoint/2010/main" val="100559037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284C5D-B6BB-410C-A82E-338A46AC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C5281-CCC3-43BF-8215-5CCF403E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6D6D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B288E-E9FF-4830-9C64-AE75AF85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1FC82-8B82-4FAA-8AAD-9C5E629F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Any questions?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D82AE-7013-4AB8-8352-E3B38BB2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Current-based Bayesian inference for a 1D PNP system using a parametric PINN surrogate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CBF9B-3831-4C2C-8E23-4A70904F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D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D6D6D"/>
                </a:solidFill>
                <a:latin typeface="Arial"/>
                <a:ea typeface="Arial"/>
                <a:cs typeface="Arial"/>
              </a:rPr>
              <a:t>Jack Jia | SSC 2026 | June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E9D96-DA6A-4B0C-B48B-5E2EF7D8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7062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2026-06-02T13:55:20.4350000Z</dcterms:created>
  <dcterms:modified xsi:type="dcterms:W3CDTF">2026-06-02T13:55:20.4350000Z</dcterms:modified>
</coreProperties>
</file>