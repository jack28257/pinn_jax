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db5c676ab084590" Type="http://schemas.openxmlformats.org/officeDocument/2006/relationships/officeDocument" Target="ppt/presentation.xml"/><Relationship Id="Ra91bf14cc6b04883" Type="http://schemas.openxmlformats.org/package/2006/relationships/metadata/core-properties" Target="docProps/core.xml"/><Relationship Id="Rda476284567847c0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ab63bd6176404d"/>
  </p:sldMasterIdLst>
  <p:notesMasterIdLst>
    <p:notesMasterId xmlns:r="http://schemas.openxmlformats.org/officeDocument/2006/relationships" r:id="R50242fe9431b46e2"/>
  </p:notesMasterIdLst>
  <p:sldIdLst>
    <p:sldId xmlns:r="http://schemas.openxmlformats.org/officeDocument/2006/relationships" id="256" r:id="R4e6b61d816dc4634"/>
    <p:sldId xmlns:r="http://schemas.openxmlformats.org/officeDocument/2006/relationships" id="257" r:id="R29b598d7a1c34028"/>
    <p:sldId xmlns:r="http://schemas.openxmlformats.org/officeDocument/2006/relationships" id="258" r:id="R8bfe3e8e76c7405c"/>
    <p:sldId xmlns:r="http://schemas.openxmlformats.org/officeDocument/2006/relationships" id="259" r:id="R4704ee7b6b6b4fea"/>
    <p:sldId xmlns:r="http://schemas.openxmlformats.org/officeDocument/2006/relationships" id="260" r:id="Rf3316d10945f4a51"/>
    <p:sldId xmlns:r="http://schemas.openxmlformats.org/officeDocument/2006/relationships" id="261" r:id="R12f851cfd21f4dff"/>
    <p:sldId xmlns:r="http://schemas.openxmlformats.org/officeDocument/2006/relationships" id="262" r:id="R4335377c96104d02"/>
    <p:sldId xmlns:r="http://schemas.openxmlformats.org/officeDocument/2006/relationships" id="263" r:id="R661317e3f8f84159"/>
    <p:sldId xmlns:r="http://schemas.openxmlformats.org/officeDocument/2006/relationships" id="264" r:id="Ra312cb7f907247fc"/>
    <p:sldId xmlns:r="http://schemas.openxmlformats.org/officeDocument/2006/relationships" id="265" r:id="Rd828a352a0574b12"/>
    <p:sldId xmlns:r="http://schemas.openxmlformats.org/officeDocument/2006/relationships" id="266" r:id="Rca48797eb11842d7"/>
    <p:sldId xmlns:r="http://schemas.openxmlformats.org/officeDocument/2006/relationships" id="267" r:id="Rb9d25a50296845b1"/>
    <p:sldId xmlns:r="http://schemas.openxmlformats.org/officeDocument/2006/relationships" id="268" r:id="Rc4b9947c2fcb4619"/>
    <p:sldId xmlns:r="http://schemas.openxmlformats.org/officeDocument/2006/relationships" id="269" r:id="R6007ab5c53654aa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2a36e1875494516" Type="http://schemas.openxmlformats.org/officeDocument/2006/relationships/presProps" Target="presProps.xml"/><Relationship Id="R12f851cfd21f4dff" Type="http://schemas.openxmlformats.org/officeDocument/2006/relationships/slide" Target="slides/slide6.xml"/><Relationship Id="R29b598d7a1c34028" Type="http://schemas.openxmlformats.org/officeDocument/2006/relationships/slide" Target="slides/slide2.xml"/><Relationship Id="R3e17cdc113ec4caa" Type="http://schemas.openxmlformats.org/officeDocument/2006/relationships/theme" Target="theme/theme1.xml"/><Relationship Id="R4335377c96104d02" Type="http://schemas.openxmlformats.org/officeDocument/2006/relationships/slide" Target="slides/slide7.xml"/><Relationship Id="R4704ee7b6b6b4fea" Type="http://schemas.openxmlformats.org/officeDocument/2006/relationships/slide" Target="slides/slide4.xml"/><Relationship Id="R4e6b61d816dc4634" Type="http://schemas.openxmlformats.org/officeDocument/2006/relationships/slide" Target="slides/slide1.xml"/><Relationship Id="R50242fe9431b46e2" Type="http://schemas.openxmlformats.org/officeDocument/2006/relationships/notesMaster" Target="notesMasters/notesMaster1.xml"/><Relationship Id="R6007ab5c53654aaf" Type="http://schemas.openxmlformats.org/officeDocument/2006/relationships/slide" Target="slides/slide14.xml"/><Relationship Id="R661317e3f8f84159" Type="http://schemas.openxmlformats.org/officeDocument/2006/relationships/slide" Target="slides/slide8.xml"/><Relationship Id="R8bfe3e8e76c7405c" Type="http://schemas.openxmlformats.org/officeDocument/2006/relationships/slide" Target="slides/slide3.xml"/><Relationship Id="Ra312cb7f907247fc" Type="http://schemas.openxmlformats.org/officeDocument/2006/relationships/slide" Target="slides/slide9.xml"/><Relationship Id="Racab63bd6176404d" Type="http://schemas.openxmlformats.org/officeDocument/2006/relationships/slideMaster" Target="slideMasters/slideMaster1.xml"/><Relationship Id="Rad33581d68ab48fe" Type="http://schemas.openxmlformats.org/officeDocument/2006/relationships/tableStyles" Target="tableStyles.xml"/><Relationship Id="Rb9d25a50296845b1" Type="http://schemas.openxmlformats.org/officeDocument/2006/relationships/slide" Target="slides/slide12.xml"/><Relationship Id="Rbbfc47791d5d4040" Type="http://schemas.openxmlformats.org/officeDocument/2006/relationships/viewProps" Target="viewProps.xml"/><Relationship Id="Rc4b9947c2fcb4619" Type="http://schemas.openxmlformats.org/officeDocument/2006/relationships/slide" Target="slides/slide13.xml"/><Relationship Id="Rca48797eb11842d7" Type="http://schemas.openxmlformats.org/officeDocument/2006/relationships/slide" Target="slides/slide11.xml"/><Relationship Id="Rd828a352a0574b12" Type="http://schemas.openxmlformats.org/officeDocument/2006/relationships/slide" Target="slides/slide10.xml"/><Relationship Id="Rf3316d10945f4a5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df0afb5ccb20462e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04f52bb89f2492b" Type="http://schemas.openxmlformats.org/officeDocument/2006/relationships/slide" Target="../slides/slide1.xml"/><Relationship Id="R6a3c30af5e694919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4fdb76d487f6484b" Type="http://schemas.openxmlformats.org/officeDocument/2006/relationships/notesMaster" Target="../notesMasters/notesMaster1.xml"/><Relationship Id="R62744a2d76f642e6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9c2e4031bcb74fec" Type="http://schemas.openxmlformats.org/officeDocument/2006/relationships/notesMaster" Target="../notesMasters/notesMaster1.xml"/><Relationship Id="Rf807d9ec425b4110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db826003fb6d416b" Type="http://schemas.openxmlformats.org/officeDocument/2006/relationships/notesMaster" Target="../notesMasters/notesMaster1.xml"/><Relationship Id="Rfa5281cfd4674988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387fe807c60a4eef" Type="http://schemas.openxmlformats.org/officeDocument/2006/relationships/notesMaster" Target="../notesMasters/notesMaster1.xml"/><Relationship Id="R4326cb160e5c4e6e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5242908c318840ae" Type="http://schemas.openxmlformats.org/officeDocument/2006/relationships/notesMaster" Target="../notesMasters/notesMaster1.xml"/><Relationship Id="Red701574a440424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1f8aa83b9fdb4a4d" Type="http://schemas.openxmlformats.org/officeDocument/2006/relationships/notesMaster" Target="../notesMasters/notesMaster1.xml"/><Relationship Id="R80422634e9ff4cc4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6e6b09e9d87d4419" Type="http://schemas.openxmlformats.org/officeDocument/2006/relationships/notesMaster" Target="../notesMasters/notesMaster1.xml"/><Relationship Id="Ra15da20eecc6407d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05a0e881159a46cc" Type="http://schemas.openxmlformats.org/officeDocument/2006/relationships/notesMaster" Target="../notesMasters/notesMaster1.xml"/><Relationship Id="R1251804f21db459d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053a433234ab42c2" Type="http://schemas.openxmlformats.org/officeDocument/2006/relationships/slide" Target="../slides/slide10.xml"/><Relationship Id="Rce7895abb9b84547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9def550657e84691" Type="http://schemas.openxmlformats.org/officeDocument/2006/relationships/slide" Target="../slides/slide11.xml"/><Relationship Id="Rc4114b5f0dc54610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47666a9c1f374616" Type="http://schemas.openxmlformats.org/officeDocument/2006/relationships/slide" Target="../slides/slide12.xml"/><Relationship Id="Rf5bbaae9d07949e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a91d515d9caf4fa6" Type="http://schemas.openxmlformats.org/officeDocument/2006/relationships/slide" Target="../slides/slide13.xml"/><Relationship Id="Rc7a0fa61b72b4ec9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554101f79bfb4380" Type="http://schemas.openxmlformats.org/officeDocument/2006/relationships/slide" Target="../slides/slide14.xml"/><Relationship Id="Rb499e4cb5920417d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fc556d76b2ac467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e2b5a4eb808a4dea" Type="http://schemas.openxmlformats.org/officeDocument/2006/relationships/theme" Target="theme/theme2.xml"/><Relationship Id="Re31904d8ef58439c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1904d8ef58439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32c4fdf52a241a8" Type="http://schemas.openxmlformats.org/officeDocument/2006/relationships/notesSlide" Target="../notesSlides/notesSlide1.xml"/><Relationship Id="Rbbc3a0685f7343fb" Type="http://schemas.openxmlformats.org/officeDocument/2006/relationships/slideLayout" Target="../slideLayouts/slideLayout1.xml"/><Relationship Id="Rf6fd7ae1559f4350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6d89c61434c949f1" Type="http://schemas.openxmlformats.org/officeDocument/2006/relationships/slideLayout" Target="../slideLayouts/slideLayout1.xml"/><Relationship Id="R7051c5850c724a48" Type="http://schemas.openxmlformats.org/officeDocument/2006/relationships/image" Target="../media/image2.png"/><Relationship Id="Rc896ea4f8049463b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8e1d4454ab8243bf" Type="http://schemas.openxmlformats.org/officeDocument/2006/relationships/slideLayout" Target="../slideLayouts/slideLayout1.xml"/><Relationship Id="R8e6ec74207154bdc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59608787beaa474a" Type="http://schemas.openxmlformats.org/officeDocument/2006/relationships/slideLayout" Target="../slideLayouts/slideLayout1.xml"/><Relationship Id="Rb71bd17f2b894329" Type="http://schemas.openxmlformats.org/officeDocument/2006/relationships/image" Target="../media/image3.png"/><Relationship Id="Rfe3277842872457e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c3c309b16c5d4db8" Type="http://schemas.openxmlformats.org/officeDocument/2006/relationships/slideLayout" Target="../slideLayouts/slideLayout1.xml"/><Relationship Id="Rea3adf3deeef44b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35a5caaf746d45cf" Type="http://schemas.openxmlformats.org/officeDocument/2006/relationships/slideLayout" Target="../slideLayouts/slideLayout1.xml"/><Relationship Id="R422df9fb6e9249aa" Type="http://schemas.openxmlformats.org/officeDocument/2006/relationships/image" Target="../media/image4.png"/><Relationship Id="Rf834ef4166fb426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6b0d9f3699b44733" Type="http://schemas.openxmlformats.org/officeDocument/2006/relationships/notesSlide" Target="../notesSlides/notesSlide7.xml"/><Relationship Id="Ra5e6df1bb64d406c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6749dcbb98aa493e" Type="http://schemas.openxmlformats.org/officeDocument/2006/relationships/notesSlide" Target="../notesSlides/notesSlide8.xml"/><Relationship Id="Rd82956f153e74798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4e9ad9b447784625" Type="http://schemas.openxmlformats.org/officeDocument/2006/relationships/image" Target="../media/image5.png"/><Relationship Id="R5d94c07a142245f2" Type="http://schemas.openxmlformats.org/officeDocument/2006/relationships/notesSlide" Target="../notesSlides/notesSlide9.xml"/><Relationship Id="Rcb4e1210d5414b7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23f56cc9fd424e87" Type="http://schemas.openxmlformats.org/officeDocument/2006/relationships/slideLayout" Target="../slideLayouts/slideLayout1.xml"/><Relationship Id="Rbd9ab5ed5ecd448d" Type="http://schemas.openxmlformats.org/officeDocument/2006/relationships/image" Target="../media/image6.png"/><Relationship Id="Rd425d6ae1cfe4f4b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467e3374ac894bcb" Type="http://schemas.openxmlformats.org/officeDocument/2006/relationships/slideLayout" Target="../slideLayouts/slideLayout1.xml"/><Relationship Id="R92ea038f7e834507" Type="http://schemas.openxmlformats.org/officeDocument/2006/relationships/notesSlide" Target="../notesSlides/notesSlide11.xml"/><Relationship Id="R9307b27a0d5740b5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20a151db7bb14929" Type="http://schemas.openxmlformats.org/officeDocument/2006/relationships/slideLayout" Target="../slideLayouts/slideLayout1.xml"/><Relationship Id="R79a9b982878b4809" Type="http://schemas.openxmlformats.org/officeDocument/2006/relationships/image" Target="../media/image8.png"/><Relationship Id="Rba3eb0ea5fbb468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36376c8e92144d86" Type="http://schemas.openxmlformats.org/officeDocument/2006/relationships/slideLayout" Target="../slideLayouts/slideLayout1.xml"/><Relationship Id="Re07a2ee97db14561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091ae8872248401c" Type="http://schemas.openxmlformats.org/officeDocument/2006/relationships/notesSlide" Target="../notesSlides/notesSlide14.xml"/><Relationship Id="Rf05cd740dcd940f9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685800" y="411480"/>
            <a:ext cx="29260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50" b="1">
                <a:solidFill>
                  <a:srgbClr val="6D6D6D"/>
                </a:solidFill>
                <a:latin typeface="Helvetica Neue"/>
              </a:rPr>
              <a:t>Academic presentation</a:t>
            </a:r>
          </a:p>
        </p:txBody>
      </p:sp>
      <p:sp xmlns:a="http://schemas.openxmlformats.org/drawingml/2006/main">
        <p:nvSpPr>
          <p:cNvPr id="4" name="Rectangle 3"/>
          <p:cNvSpPr/>
          <p:nvPr/>
        </p:nvSpPr>
        <p:spPr>
          <a:xfrm>
            <a:off x="685800" y="713232"/>
            <a:ext cx="1737360" cy="27432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TextBox 4"/>
          <p:cNvSpPr txBox="1"/>
          <p:nvPr/>
        </p:nvSpPr>
        <p:spPr>
          <a:xfrm>
            <a:off x="685800" y="1325880"/>
            <a:ext cx="681228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00" b="1">
                <a:solidFill>
                  <a:srgbClr val="151515"/>
                </a:solidFill>
                <a:latin typeface="Helvetica Neue"/>
              </a:rPr>
              <a:t>Current-Based Inverse Inference
for a 1D Poisson-Nernst-Planck System</a:t>
            </a:r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713232" y="2788920"/>
            <a:ext cx="6720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00" b="0">
                <a:solidFill>
                  <a:srgbClr val="6D6D6D"/>
                </a:solidFill>
                <a:latin typeface="Helvetica Neue"/>
              </a:rPr>
              <a:t>A physics-informed neural-network surrogate for diffusion-parameter inference</a:t>
            </a:r>
          </a:p>
        </p:txBody>
      </p:sp>
      <p:sp xmlns:a="http://schemas.openxmlformats.org/drawingml/2006/main">
        <p:nvSpPr>
          <p:cNvPr id="7" name="Rectangle 6"/>
          <p:cNvSpPr/>
          <p:nvPr/>
        </p:nvSpPr>
        <p:spPr>
          <a:xfrm>
            <a:off x="7909560" y="1261872"/>
            <a:ext cx="3154680" cy="2880360"/>
          </a:xfrm>
          <a:prstGeom prst="rect">
            <a:avLst/>
          </a:prstGeom>
          <a:solidFill>
            <a:srgbClr val="FFFFFF"/>
          </a:solidFill>
          <a:ln w="11430">
            <a:solidFill>
              <a:srgbClr val="008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8" name="Rectangle 7"/>
          <p:cNvSpPr/>
          <p:nvPr/>
        </p:nvSpPr>
        <p:spPr>
          <a:xfrm>
            <a:off x="7909560" y="1261872"/>
            <a:ext cx="3154680" cy="32004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8183879" y="1572768"/>
            <a:ext cx="21031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1">
                <a:solidFill>
                  <a:srgbClr val="008C95"/>
                </a:solidFill>
                <a:latin typeface="Aptos"/>
              </a:rPr>
              <a:t>Research question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8183879" y="1920240"/>
            <a:ext cx="2606040" cy="960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151515"/>
                </a:solidFill>
                <a:latin typeface="Helvetica Neue"/>
              </a:rPr>
              <a:t>Can electrode
current identify
Dp and Dn?</a:t>
            </a:r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8183879" y="3182112"/>
            <a:ext cx="1143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50" b="1">
                <a:solidFill>
                  <a:srgbClr val="D05A2A"/>
                </a:solidFill>
                <a:latin typeface="Helvetica Neue"/>
              </a:rPr>
              <a:t>observation</a:t>
            </a:r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8183879" y="3438144"/>
            <a:ext cx="7315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D05A2A"/>
                </a:solidFill>
                <a:latin typeface="Helvetica Neue"/>
              </a:rPr>
              <a:t>I(t)</a:t>
            </a:r>
          </a:p>
        </p:txBody>
      </p:sp>
      <p:cxnSp xmlns:a="http://schemas.openxmlformats.org/drawingml/2006/main">
        <p:nvCxnSpPr>
          <p:cNvPr id="13" name="Connector 12"/>
          <p:cNvCxnSpPr/>
          <p:nvPr/>
        </p:nvCxnSpPr>
        <p:spPr>
          <a:xfrm>
            <a:off x="8979408" y="3547872"/>
            <a:ext cx="566928" cy="0"/>
          </a:xfrm>
          <a:prstGeom prst="line">
            <a:avLst/>
          </a:prstGeom>
          <a:ln w="16510">
            <a:solidFill>
              <a:srgbClr val="6D6D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14" name="TextBox 13"/>
          <p:cNvSpPr txBox="1"/>
          <p:nvPr/>
        </p:nvSpPr>
        <p:spPr>
          <a:xfrm>
            <a:off x="9674352" y="3182112"/>
            <a:ext cx="10515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50" b="1">
                <a:solidFill>
                  <a:srgbClr val="3F7D55"/>
                </a:solidFill>
                <a:latin typeface="Helvetica Neue"/>
              </a:rPr>
              <a:t>output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9674352" y="3438144"/>
            <a:ext cx="1188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3F7D55"/>
                </a:solidFill>
                <a:latin typeface="Helvetica Neue"/>
              </a:rPr>
              <a:t>posterior over
Dp, Dn</a:t>
            </a:r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713232" y="4498848"/>
            <a:ext cx="64922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0">
                <a:solidFill>
                  <a:srgbClr val="6D6D6D"/>
                </a:solidFill>
                <a:latin typeface="Helvetica Neue"/>
              </a:rPr>
              <a:t>Measurable current -&gt; posterior uncertainty over diffusion parameters.</a:t>
            </a:r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685800" y="5989320"/>
            <a:ext cx="31089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50" b="0">
                <a:solidFill>
                  <a:srgbClr val="6D6D6D"/>
                </a:solidFill>
                <a:latin typeface="Helvetica Neue"/>
              </a:rPr>
              <a:t>Jack Jia | June 2026</a:t>
            </a:r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7635240" y="5989320"/>
            <a:ext cx="3429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50" b="0">
                <a:solidFill>
                  <a:srgbClr val="6D6D6D"/>
                </a:solidFill>
                <a:latin typeface="Helvetica Neue"/>
              </a:rPr>
              <a:t>1D PNP PINN current-based inverse problem</a:t>
            </a:r>
          </a:p>
        </p:txBody>
      </p:sp>
    </p:spTree>
    <p:extLst>
      <p:ext uri="{BB962C8B-B14F-4D97-AF65-F5344CB8AC3E}">
        <p14:creationId xmlns:p14="http://schemas.microsoft.com/office/powerpoint/2010/main" val="76957430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8A0516-2CB5-4F37-95EC-975CF73B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FE137F-6B4C-4974-BC46-0D4D1A249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OPENING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9F6A13-07E7-4A6F-A8DE-2A04A700A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D4263D-EB5F-49D6-8E92-3DFE70C7D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456816-3694-490D-A8FE-40F49743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EBAADD-0903-4ED2-A7D1-86EFC97BC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28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central question is whether current identifies diffusion parameters.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A3343A-1C88-484F-86B1-BC27BB05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9525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The project connects a measurable signal to a Bayesian posterior over Dp and Dn.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51c5850c724a48"/>
          <a:stretch xmlns:a="http://schemas.openxmlformats.org/drawingml/2006/main"/>
        </p:blipFill>
        <p:spPr>
          <a:xfrm xmlns:a="http://schemas.openxmlformats.org/drawingml/2006/main">
            <a:off x="1966789" y="2724150"/>
            <a:ext cx="8125072" cy="15240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90DBC7-65A8-4998-A29F-F5D8D2FE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83870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Storyline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298068-8C1C-4BBA-9635-DAC8B0C83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2445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measurable current -&gt; forward PNP physics -&gt; PINN surrogate -&gt; posterior uncertainty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8A8DBC-AB4D-4C66-9ABF-3B6584E3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0931B5-A7F5-4BAF-A2A1-9ACADC5E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Talk thesis</a:t>
            </a:r>
          </a:p>
        </p:txBody>
      </p:sp>
    </p:spTree>
    <p:extLst>
      <p:ext uri="{BB962C8B-B14F-4D97-AF65-F5344CB8AC3E}">
        <p14:creationId xmlns:p14="http://schemas.microsoft.com/office/powerpoint/2010/main" val="198764078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398FBA-E6EE-4FF2-A16C-5CD63FADF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B5BECC-4620-47D2-9A2E-94D0DC4D5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MOTIVATION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9B073D-8722-4858-AC75-62A58BDD6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EF9CE3-FAB0-4AB2-ABCB-B3CEA4E6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6F5133-2C28-4314-A576-9D0C42C9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CDC5B6-339C-4FD5-9B84-D0329815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28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inverse problem must start from what the experiment measures.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EEFA7E-EC3C-4855-BBF6-6661D41C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914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The PINN may predict fields, but the likelihood should be built from current.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45F490-0753-410A-AB1E-EAEE3DF5A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095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A7080E-58D3-49C3-A4A1-F7B15347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813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Hidden state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EDB486-5F01-4281-A7F0-0888E174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cp(x,t), cn(x,t), phi(x,t)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CF7E83-F378-40DC-B3F1-12E44320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useful for 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024048-7683-4699-BF78-73C5260ED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57500"/>
            <a:ext cx="4095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819C48-122B-4DEF-8055-62F74C04C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57500"/>
            <a:ext cx="409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3E52CA-15AF-4AFD-B6FC-79492A4D4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813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Measured signal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597CCB-FAA2-4DBA-B716-6D921F10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76650"/>
            <a:ext cx="3048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electrode current I(t)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B76393-48D4-4A4B-BA6A-9404A42C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used for inference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CC4445-8C5D-4F04-B6CA-804D97E1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3816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41C196-5CE9-4CCD-A3CE-0ED34C30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286375"/>
            <a:ext cx="55435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Unknowns: Dp and Dn.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13FCD7-F578-4831-9763-DA7F4964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245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F17EEC-76EF-4E35-98EB-65BEC696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629275"/>
            <a:ext cx="55435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Data: noisy current observations.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BA4BFF-C1A7-4E53-9BF5-427B1663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4BA525-1C7A-4278-8AAE-96E654DF8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Observation model</a:t>
            </a:r>
          </a:p>
        </p:txBody>
      </p:sp>
    </p:spTree>
    <p:extLst>
      <p:ext uri="{BB962C8B-B14F-4D97-AF65-F5344CB8AC3E}">
        <p14:creationId xmlns:p14="http://schemas.microsoft.com/office/powerpoint/2010/main" val="46079424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E5037C-B778-443C-8D78-1F5688B5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F45B06-029B-4291-B9AA-5B5C61A25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FORWARD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E5C132-C494-4E7D-8FA9-8DBDDDC6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DDD043-7BE0-4B92-96C6-9C8FFE4EF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714D1C-CFC9-4A7E-807B-EBA9DAA0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09EB1A-4211-4F04-92AD-243ABFD0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477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controlled benchmark is a blocking-electrode PNP system.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C8651B-25F1-4B6C-BA43-9A51C8182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95500"/>
            <a:ext cx="5810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5C861B-7DA0-4DC1-B062-7E555A0E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95500"/>
            <a:ext cx="581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1bd17f2b894329"/>
          <a:stretch xmlns:a="http://schemas.openxmlformats.org/drawingml/2006/main"/>
        </p:blipFill>
        <p:spPr>
          <a:xfrm xmlns:a="http://schemas.openxmlformats.org/drawingml/2006/main">
            <a:off x="1123950" y="2280179"/>
            <a:ext cx="5334000" cy="1926167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39FE55-54CC-4708-9D1D-57371CEA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095500"/>
            <a:ext cx="31242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E06D88-F425-4432-9D01-1FE1CB01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4384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05A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05A2A"/>
                </a:solidFill>
                <a:latin typeface="Aptos"/>
                <a:ea typeface="Aptos"/>
                <a:cs typeface="Aptos"/>
              </a:rPr>
              <a:t>Parameter box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EE579C-8F0F-44F5-BEB6-9BFF13985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14650"/>
            <a:ext cx="238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x in [0,1],  t in [0,0.2]</a:t>
            </a:r>
          </a:p>
          <a:p xmlns:a="http://schemas.openxmlformats.org/drawingml/2006/main">
            <a:pPr algn="l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Dp, Dn in [0.5,2.0]</a:t>
            </a:r>
          </a:p>
          <a:p xmlns:a="http://schemas.openxmlformats.org/drawingml/2006/main">
            <a:pPr algn="l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true case: Dp = Dn = 1.25</a:t>
            </a:r>
          </a:p>
          <a:p xmlns:a="http://schemas.openxmlformats.org/drawingml/2006/main">
            <a:pPr algn="l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phi(0) = -0.5, phi(1) = 0.5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755B63-32D3-4819-8EDE-B69E7A4D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2578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Blocking boundary: ions do not cross the electrode, but charging current can still be measured.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254CC8-32ED-4C11-8447-8A76C614C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52A096-96A4-4838-A44D-C50EC51F6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Physical setup and assumptions</a:t>
            </a:r>
          </a:p>
        </p:txBody>
      </p:sp>
    </p:spTree>
    <p:extLst>
      <p:ext uri="{BB962C8B-B14F-4D97-AF65-F5344CB8AC3E}">
        <p14:creationId xmlns:p14="http://schemas.microsoft.com/office/powerpoint/2010/main" val="3355516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42B730-CACA-47FC-AC08-789F5B762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9CE8C6-4FD3-455A-BEB7-2F2DF2F9E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PINN SURROGATE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84EC01-EA01-454B-A3FC-D0EAAC975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F06777-DC37-47C6-A826-64A7B8FC3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719681-2661-4CB5-B428-C6093B6A5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A4D7BB-0805-4EB3-B032-182D4FAB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0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PINN learns the forward map, not the inverse answer.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E7C052-C7FC-42A7-BB89-0FFE301F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914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This distinction is the core role of the neural network.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2A1BED-5D70-4E80-B207-F4AB238B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2476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C70EAA-358B-44CF-9B47-5B3E3EED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14675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7DB19B-50E7-4FDA-941B-AEC2428D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95675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(x, t, Dp, Dn)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571A4B-5406-4477-BC72-C33306EB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29000"/>
            <a:ext cx="809625" cy="161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28F948-F237-41D9-914F-77702C6BA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3147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C1466D-FD96-4353-9B33-60BC2733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695575"/>
            <a:ext cx="23812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5631F6-498F-498F-8488-32B2B8CCD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695575"/>
            <a:ext cx="238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605085-84A3-4697-BBFD-D71F97EE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9813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PINN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657CB0-9858-4B7D-98B6-B0B397F17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343275"/>
            <a:ext cx="161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8-layer tanh MLP</a:t>
            </a:r>
          </a:p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width 256</a:t>
            </a:r>
          </a:p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JAX / Equinox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4D8C31-6733-45AC-A347-C8B3D79E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809625" cy="161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12DE60-5CFE-4636-9841-83F51C1A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3147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A6DD00-8A3D-4654-BAAA-9C040A8A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05125"/>
            <a:ext cx="2333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708310-9247-4111-93D5-EA38F36CD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05125"/>
            <a:ext cx="2333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03C69-63CE-4252-80FA-B3C361CC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3114675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8F1199-232B-4A82-B69B-2E00DFBD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3495675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(cp, cn, phi)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D83825-C202-446C-8A33-8E3B86F9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1911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FAE163-E471-4137-86B2-80DC5796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5095875"/>
            <a:ext cx="78771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One trained model can be evaluated at many candidate parameter pairs.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6A0064-31E3-4165-BEEA-863A594F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55307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ECEBE8-9901-4C3C-A72C-DE215678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5457825"/>
            <a:ext cx="78771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inverse problem compares current predicted from this state map.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7E3DEB-210B-47D7-8A9D-A8F81A7A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58CDFC-32EB-4341-BA23-8BC45E89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What the neural network represents</a:t>
            </a:r>
          </a:p>
        </p:txBody>
      </p:sp>
    </p:spTree>
    <p:extLst>
      <p:ext uri="{BB962C8B-B14F-4D97-AF65-F5344CB8AC3E}">
        <p14:creationId xmlns:p14="http://schemas.microsoft.com/office/powerpoint/2010/main" val="142884930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46D360-34E0-4976-9B71-E1A804F4E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B23291-ED93-40D5-B859-FA3334A13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TRAINING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E0F05F-5989-49E0-BDA9-0DCB8240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50212A-A20B-4AF7-8CA1-52EFBE72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5676EB-2ECF-48F7-B7B5-C3D94A9A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07CD94-2AA5-4630-B007-105EECC5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47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Training makes the network satisfy the PNP equations over parameter space.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184DEE-E36D-4BCF-91F8-CBAAB4283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981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The reference solver is used later for validation and synthetic observations, not as pointwise training labels.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C521E-1CC0-4A31-89AA-80DD33124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19400"/>
            <a:ext cx="2714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227AB9-587E-4473-92A9-06126627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19400"/>
            <a:ext cx="2714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F87427-E7B9-4AD0-BFF8-ACD3A07C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162300"/>
            <a:ext cx="2190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PDE residuals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A46BF9-7000-4CC1-AF46-D04E4AA7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19400"/>
            <a:ext cx="2714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3C8772-10BB-43D4-8E08-5E64A566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19400"/>
            <a:ext cx="2714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1F8C76-906D-4277-ADD2-F1BC5ED3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162300"/>
            <a:ext cx="2190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Initial and boundary</a:t>
            </a:r>
          </a:p>
          <a:p xmlns:a="http://schemas.openxmlformats.org/drawingml/2006/main">
            <a:pPr algn="ctr">
              <a:defRPr sz="15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conditions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D0F345-A43C-418F-BB26-062EFA5BC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19400"/>
            <a:ext cx="2714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5A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D9AD76-AC75-487D-B293-3A20AD0A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19400"/>
            <a:ext cx="2714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834EF6-C1FF-4809-B198-DDE55F69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62300"/>
            <a:ext cx="2190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05A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05A2A"/>
                </a:solidFill>
                <a:latin typeface="Aptos"/>
                <a:ea typeface="Aptos"/>
                <a:cs typeface="Aptos"/>
              </a:rPr>
              <a:t>Parameter-domain</a:t>
            </a:r>
          </a:p>
          <a:p xmlns:a="http://schemas.openxmlformats.org/drawingml/2006/main">
            <a:pPr algn="ctr">
              <a:defRPr sz="1500" b="1">
                <a:solidFill>
                  <a:srgbClr val="D05A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05A2A"/>
                </a:solidFill>
                <a:latin typeface="Aptos"/>
                <a:ea typeface="Aptos"/>
                <a:cs typeface="Aptos"/>
              </a:rPr>
              <a:t>sampling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F6B3E0-2F94-4348-BE4F-C26B2CB5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438650"/>
            <a:ext cx="7715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2df9fb6e9249aa"/>
          <a:stretch xmlns:a="http://schemas.openxmlformats.org/drawingml/2006/main"/>
        </p:blipFill>
        <p:spPr>
          <a:xfrm xmlns:a="http://schemas.openxmlformats.org/drawingml/2006/main">
            <a:off x="4265049" y="4572000"/>
            <a:ext cx="3642852" cy="72390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51156F-A178-448D-9906-C5989941D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715000"/>
            <a:ext cx="4857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Current completed run: 500000 Adam steps.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C7265E-64D2-40C0-9537-159AABF5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5BEB25-2F48-4786-B203-FDAE929B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Training objective</a:t>
            </a:r>
          </a:p>
        </p:txBody>
      </p:sp>
    </p:spTree>
    <p:extLst>
      <p:ext uri="{BB962C8B-B14F-4D97-AF65-F5344CB8AC3E}">
        <p14:creationId xmlns:p14="http://schemas.microsoft.com/office/powerpoint/2010/main" val="209990843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9062CB-76B2-4408-9323-23FD9781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86BE20-32F2-4001-BBCA-3FE83FE97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AMORTIZATION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9BB500-4AA7-4542-BA37-12A526FD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3542EB-509A-4045-A573-75E7FC0BE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17B86E-9F44-4B69-8E05-A7697281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FD3099-4FD7-4F02-8FD6-F3767ED7D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572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computational benefit is reuse across many likelihood evaluations.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053ADB-2816-46C1-9FFB-BD70C057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90800"/>
            <a:ext cx="3857625" cy="2047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3C3F8C-EEF5-46B1-ACB1-B853731A4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71800"/>
            <a:ext cx="2619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Benchmark-only inference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2B4959-7B69-4470-92AA-7C6A2B2A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562350"/>
            <a:ext cx="2714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candidate parameters</a:t>
            </a:r>
          </a:p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-&gt; numerical PDE solve</a:t>
            </a:r>
          </a:p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-&gt; current prediction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0E7740-6C38-4662-8E97-B2E8C9F3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600450"/>
            <a:ext cx="1571625" cy="161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CA64B9-70F6-4999-8B7A-3CC01D6F6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4861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58CE4A-785C-40A0-A261-B9E52C023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38862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many times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863A13-3F98-4B3E-8F79-DD8F20B5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90800"/>
            <a:ext cx="3857625" cy="2047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A65D93-0371-461E-90C4-F365EB0AB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90800"/>
            <a:ext cx="3857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B12FED-40AE-4515-BA57-F0C21C1B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71800"/>
            <a:ext cx="2619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PINN-based inference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17A781-81BE-4A3B-84A3-FED033F62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62350"/>
            <a:ext cx="29051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candidate parameters</a:t>
            </a:r>
          </a:p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-&gt; trained PINN evaluation</a:t>
            </a:r>
          </a:p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-&gt; current prediction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EC12D2-C97A-431C-830F-2562AD01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334000"/>
            <a:ext cx="8382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Training is expensive once; inference becomes useful when the forward surrogate is reused many times.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3A0AC3-86F3-4AF6-8C26-5D0224540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CB49D9-7BA1-46F3-BC71-6B839950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Why a PINN is useful here</a:t>
            </a:r>
          </a:p>
        </p:txBody>
      </p:sp>
    </p:spTree>
    <p:extLst>
      <p:ext uri="{BB962C8B-B14F-4D97-AF65-F5344CB8AC3E}">
        <p14:creationId xmlns:p14="http://schemas.microsoft.com/office/powerpoint/2010/main" val="87689144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AC57CE-E433-4740-BD60-8E2ED184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44715F-BF63-499A-BC8A-B7C02847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SYNTHETIC EXPERIMENT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25D70D-1D08-412B-B481-2B6B8562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5A3478-8FE7-49D3-9ED7-1A28AEA5E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C56EA8-0397-43EF-B8CA-222C68C7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01488E-0ABF-4609-A506-90CE43B58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47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current data are generated independently of the PINN.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079818-9785-4683-8544-C63A997C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This keeps the inverse test honest: the surrogate is tested against a separate numerical model.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67AAEC-31C7-443D-9F87-8A6E1D94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2143125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5A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B2C464-50EA-4024-BEB5-CA69CAA9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2143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1E4DD0-7330-4A56-BE66-28DF2D1C7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147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05A2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05A2A"/>
                </a:solidFill>
                <a:latin typeface="Aptos"/>
                <a:ea typeface="Aptos"/>
                <a:cs typeface="Aptos"/>
              </a:rPr>
              <a:t>true case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6CB056-6716-448D-88C9-D9BCA4B3C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19500"/>
            <a:ext cx="1238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Dp = 1.25</a:t>
            </a:r>
          </a:p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Dn = 1.25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0594EE-E3B8-41D3-B42A-4EDB5341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695700"/>
            <a:ext cx="714375" cy="161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C187F4-470E-4BBA-B9FD-E2A772101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5814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05A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05A2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5C6938-8382-4AA3-9E7C-3E28B05E3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143250"/>
            <a:ext cx="2428875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140016-988C-4D85-B9C3-ABDBFF1F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143250"/>
            <a:ext cx="2428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67C40F-E0BE-463B-83FD-06BFA7B3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3147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reference solver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6CB367-C99E-448D-B68B-4CADC9BAC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619500"/>
            <a:ext cx="161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finite difference</a:t>
            </a:r>
          </a:p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BDF integration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808C35-EAFD-45F6-99DB-C3E2DB78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95700"/>
            <a:ext cx="714375" cy="161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CC6384-F518-46EE-B8AA-19920E09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35814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7D3BCE-6D7C-484D-A9EB-0DB999CD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43250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3E232A-012E-47CF-A095-033ED46F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43250"/>
            <a:ext cx="1809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E6A85D-E77B-4072-9532-3D92FE1E6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147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observation noise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02E249-1AAD-4E1F-A39C-45AEFCD3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38550"/>
            <a:ext cx="1190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2% Gaussian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EE241B-040F-48FA-8E62-E97D6B0F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695700"/>
            <a:ext cx="400050" cy="161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CDA4BF-9C76-49EB-A08F-4F5B44B1D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5814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B2A010-3F2E-4A7B-9740-1AD39684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3371850"/>
            <a:ext cx="876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79</a:t>
            </a:r>
          </a:p>
          <a:p xmlns:a="http://schemas.openxmlformats.org/drawingml/2006/main">
            <a:pPr algn="ctr">
              <a:defRPr sz="12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current</a:t>
            </a:r>
          </a:p>
          <a:p xmlns:a="http://schemas.openxmlformats.org/drawingml/2006/main">
            <a:pPr algn="ctr">
              <a:defRPr sz="12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intervals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631D91-87BF-42AB-BB12-C96A73D8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780D93-DA6C-4FE4-AA9A-2278958CB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Reference solver to synthetic current observations</a:t>
            </a:r>
          </a:p>
        </p:txBody>
      </p:sp>
    </p:spTree>
    <p:extLst>
      <p:ext uri="{BB962C8B-B14F-4D97-AF65-F5344CB8AC3E}">
        <p14:creationId xmlns:p14="http://schemas.microsoft.com/office/powerpoint/2010/main" val="40521181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41D0D5-117A-4A74-A31D-804210F6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A252AC-10EA-4237-96CD-4D52B5F6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CURRENT OBSERVABLE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A9050D-FFC8-41B1-8516-5856FF1B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124E54-CC5E-44A8-A492-2FDA3A8C3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22BC53-9839-486E-AC3B-D574B348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73E424-F127-4781-90AD-8AA74F20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668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Q(t) is a simulator construction; the observation is current I(t).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254C52-4A1D-43BD-97A2-927EDA8D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71750"/>
            <a:ext cx="3524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A7B524-C628-4302-8740-ACCCD6A0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71750"/>
            <a:ext cx="352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F12A91-56C5-4E75-84AD-CB5A93EC0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146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experiment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D74204-DE63-4BD1-9234-78B3C364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4861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external circuit</a:t>
            </a:r>
          </a:p>
          <a:p xmlns:a="http://schemas.openxmlformats.org/drawingml/2006/main">
            <a:pPr algn="l">
              <a:defRPr sz="18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measures I(t)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460F27-2964-4386-AC53-B5223B2D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381250"/>
            <a:ext cx="50958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DC54F3-2FF7-4C8E-BBA6-E9126CFB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381250"/>
            <a:ext cx="5095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9ad9b447784625"/>
          <a:stretch xmlns:a="http://schemas.openxmlformats.org/drawingml/2006/main"/>
        </p:blipFill>
        <p:spPr>
          <a:xfrm xmlns:a="http://schemas.openxmlformats.org/drawingml/2006/main">
            <a:off x="6038850" y="2782313"/>
            <a:ext cx="4524375" cy="1331474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5FE25C-12CC-4BB6-A790-AA9F10BDE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19700"/>
            <a:ext cx="8191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The Q(t) route avoids unstable boundary derivatives when computing the current from a learned field.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A3CE3B-CB3F-451F-A41A-33894F48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3D314F-B91B-4FFF-898F-9352886D2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Current measurement and simulation-side construction</a:t>
            </a:r>
          </a:p>
        </p:txBody>
      </p:sp>
    </p:spTree>
    <p:extLst>
      <p:ext uri="{BB962C8B-B14F-4D97-AF65-F5344CB8AC3E}">
        <p14:creationId xmlns:p14="http://schemas.microsoft.com/office/powerpoint/2010/main" val="67719245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FC8FB8-AD7D-4F8F-B79C-B51A288D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17C350-3764-4C6B-8983-79B735DD2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BAYESIAN INVERSE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ABABD9-F6BC-41D1-BB3F-32D897F54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44AE4A-AB4C-44F3-A4F0-44EB3EA6E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0D6D6C-483D-4274-81EF-966BDE5D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AAE2E7-BE80-42C4-99FE-C7AE39B65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47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posterior compares observed current with PINN-predicted current.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B96E8F-E4FE-437C-83E7-14191E9F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914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The current diagnostic uses a transparent 41 by 41 grid posterior.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A79EA8-8E8A-4763-B811-124689F1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0"/>
            <a:ext cx="10334625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5A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B4A516-1201-4663-9EE1-4CDCEE34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0"/>
            <a:ext cx="10334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9ab5ed5ecd448d"/>
          <a:stretch xmlns:a="http://schemas.openxmlformats.org/drawingml/2006/main"/>
        </p:blipFill>
        <p:spPr>
          <a:xfrm xmlns:a="http://schemas.openxmlformats.org/drawingml/2006/main">
            <a:off x="2836718" y="2800350"/>
            <a:ext cx="6404264" cy="16383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63DBE2-11B2-4217-ABCA-EDB5C250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353050"/>
            <a:ext cx="666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Uniform prior over the grid; posterior mass is normalized after evaluating all candidates.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2DC90D-DF5F-4AE4-ACFB-3098CB22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6C5E82-ECA4-4661-9C41-A8EA02FB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Likelihood and posterior</a:t>
            </a:r>
          </a:p>
        </p:txBody>
      </p:sp>
    </p:spTree>
    <p:extLst>
      <p:ext uri="{BB962C8B-B14F-4D97-AF65-F5344CB8AC3E}">
        <p14:creationId xmlns:p14="http://schemas.microsoft.com/office/powerpoint/2010/main" val="44912955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CEB951-C71B-4215-A26B-700F345E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9EDCEC-FBC0-4DED-8E8B-86D51861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CURRENT FIT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FBCEAC-97C0-4A3E-A9D0-FD744FED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E2E4D7-1C11-4777-94EB-3F9EB04D4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37F0C2-2D20-46C0-9F97-4C5E7A099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3CF4D9-6E42-4CEF-A773-826C0DFC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9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At the MAP point, the PINN matches the observed current at the noise level.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07b27a0d5740b5"/>
          <a:stretch xmlns:a="http://schemas.openxmlformats.org/drawingml/2006/main"/>
        </p:blipFill>
        <p:spPr>
          <a:xfrm xmlns:a="http://schemas.openxmlformats.org/drawingml/2006/main">
            <a:off x="1495993" y="2209800"/>
            <a:ext cx="6342513" cy="3714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B8E76D-439B-40D1-B1F4-F4D3B643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8605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MAP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9AC76F-BB79-4EBB-96B2-0445DE96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861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Dp = 1.25</a:t>
            </a:r>
          </a:p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Dn = 1.2125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0B7359-C922-4ACC-A0B1-B7C41F18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7195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05A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05A2A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9495FA-BDFE-4702-BC1B-E98B0CC0A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72000"/>
            <a:ext cx="2095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79 current intervals</a:t>
            </a:r>
          </a:p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2% relative noise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2EC5ED-E133-4A54-9742-AA524ADAC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018C6C-4960-48CB-BAB4-C4BDE7F2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Fit on the likelihood signal</a:t>
            </a:r>
          </a:p>
        </p:txBody>
      </p:sp>
    </p:spTree>
    <p:extLst>
      <p:ext uri="{BB962C8B-B14F-4D97-AF65-F5344CB8AC3E}">
        <p14:creationId xmlns:p14="http://schemas.microsoft.com/office/powerpoint/2010/main" val="103474614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82FE21-E036-4B46-BC47-1D41E58B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3618B4-1C02-4B4F-83BA-49A8D81B9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POSTERIOR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657B17-B1A8-4C00-95D3-8544B55DE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AEA179-4DCB-4F1B-AD9D-F117856E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659694-FE74-4D1C-B1D3-02023737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539171-0D5A-44ED-9BB4-4BD2FB85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9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posterior covers the true parameters and shows coupled uncertainty.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a9b982878b4809"/>
          <a:stretch xmlns:a="http://schemas.openxmlformats.org/drawingml/2006/main"/>
        </p:blipFill>
        <p:spPr>
          <a:xfrm xmlns:a="http://schemas.openxmlformats.org/drawingml/2006/main">
            <a:off x="1361515" y="2038350"/>
            <a:ext cx="4706471" cy="4000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B55DA1-34EF-40C8-98CD-9E1E806C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26695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05A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05A2A"/>
                </a:solidFill>
                <a:latin typeface="Aptos"/>
                <a:ea typeface="Aptos"/>
                <a:cs typeface="Aptos"/>
              </a:rPr>
              <a:t>true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E276B0-38AF-4B5C-9CC2-12C5E3D4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2890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Dp = 1.25, Dn = 1.25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5444BE-FBA3-4F51-8CC6-1E100148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33375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posterior mean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214A9E-38BB-4479-966F-CCB65B26A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714750"/>
            <a:ext cx="228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Dp = 1.2353</a:t>
            </a:r>
          </a:p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Dn = 1.2368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F3468E-4EE5-41D0-A483-CE6ED88F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7625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95% marginal intervals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94B090-B511-492E-98E7-FCE3DA3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14350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Dp: [1.0625, 1.4000]</a:t>
            </a:r>
          </a:p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Dn: [1.0625, 1.4375]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5F28C7-1673-44D1-B646-D0A544972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86740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The true values are inside the reported intervals.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F96F4D-9F56-413D-BEF0-F3A449D9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720473-2510-4895-A16B-2DE18AA7B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Posterior over diffusion parameters</a:t>
            </a:r>
          </a:p>
        </p:txBody>
      </p:sp>
    </p:spTree>
    <p:extLst>
      <p:ext uri="{BB962C8B-B14F-4D97-AF65-F5344CB8AC3E}">
        <p14:creationId xmlns:p14="http://schemas.microsoft.com/office/powerpoint/2010/main" val="103308267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ED832E-9ADC-42CA-AC13-017F83ED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2C3A13-EBB6-45AB-908C-9E7C788B6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TAKEAWAY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DC9ECC-26D8-4C87-BF8F-91E45C42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02087-FCCC-4ECE-87E8-B45B8CBC5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EBE090-7FDC-4161-A227-987BDAC0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7CB2CD-0C6D-491F-A9BA-83970D3E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47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This is a controlled proof of concept for current-based PINN inverse inference.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BFF468-93DC-4D82-AB72-1977DCA8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7146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483337-7D61-4BEA-9BCB-3B69CA321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2619375"/>
            <a:ext cx="859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observation is experimentally meaningful current, not hidden fields.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89ED0A-3F41-4B63-BDED-530B3C66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30517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FD7CEA-1019-4E37-A67A-4C1172AC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209925"/>
            <a:ext cx="859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PINN acts as a reusable forward model, not as the data generator.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E9CB10-A5DC-41FF-BFFC-688DB74F1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8957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48C4A2-125F-4B2C-96EC-9F86C731E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800475"/>
            <a:ext cx="859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output is a posterior over Dp and Dn, so uncertainty is explicit.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2B8281-DEAB-413E-88CC-D83A15F9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0673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F7D5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F7D55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E636C5-B15E-4B7D-A8BB-EDEB0E7D5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429250"/>
            <a:ext cx="8096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Test more true parameter pairs, vary noise and time sampling, then replace the grid posterior by MCMC when the parameter space grows.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174F7F-8DEB-40B3-A3D1-D9310C63B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C6C7D4-20A5-40CE-8152-9F5AEF22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63230022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183B36-E1E2-4979-A721-E3AA1DA0A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0FDFA1-D36C-447C-B850-5A14A7BCE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7F3720-C1F0-4151-A381-5E5BC2D7C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DB25E8-1B4C-4FEE-AE37-72482DD0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990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Any questions?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005ED4-AD83-4DB0-9242-ABB52150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Current-based inverse inference for a 1D PNP system using a reusable PINN forward surrogate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52AE65-D89F-4A76-96C1-88B7C94BF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Jack Jia | June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509AB2-9D48-4F83-9D10-6C591A5B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656557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2026-06-02T12:14:26.9110000Z</dcterms:created>
  <dcterms:modified xsi:type="dcterms:W3CDTF">2026-06-02T12:14:26.9110000Z</dcterms:modified>
</coreProperties>
</file>