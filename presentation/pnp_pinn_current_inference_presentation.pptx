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9c86647bc04767" /><Relationship Type="http://schemas.openxmlformats.org/officeDocument/2006/relationships/extended-properties" Target="/docProps/app.xml" Id="Rc11851a0105f4e02" /><Relationship Type="http://schemas.openxmlformats.org/officeDocument/2006/relationships/officeDocument" Target="/ppt/presentation.xml" Id="R490af2cb4c1f4c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7d9cf28dd0402e"/>
  </p:sldMasterIdLst>
  <p:notesMasterIdLst>
    <p:notesMasterId xmlns:r="http://schemas.openxmlformats.org/officeDocument/2006/relationships" r:id="R964fdae71fee4a6f"/>
  </p:notesMasterIdLst>
  <p:sldIdLst>
    <p:sldId xmlns:r="http://schemas.openxmlformats.org/officeDocument/2006/relationships" id="256" r:id="Ree3f4f47e02f4d82"/>
    <p:sldId xmlns:r="http://schemas.openxmlformats.org/officeDocument/2006/relationships" id="257" r:id="R67f0fd1413b94e83"/>
    <p:sldId xmlns:r="http://schemas.openxmlformats.org/officeDocument/2006/relationships" id="258" r:id="R884ba19b93f64c6e"/>
    <p:sldId xmlns:r="http://schemas.openxmlformats.org/officeDocument/2006/relationships" id="259" r:id="R6247a22b22cf4549"/>
    <p:sldId xmlns:r="http://schemas.openxmlformats.org/officeDocument/2006/relationships" id="260" r:id="R8eef37dc180b4af1"/>
    <p:sldId xmlns:r="http://schemas.openxmlformats.org/officeDocument/2006/relationships" id="261" r:id="R7babcd119d724ae5"/>
    <p:sldId xmlns:r="http://schemas.openxmlformats.org/officeDocument/2006/relationships" id="262" r:id="R61f16fc23f7f4db5"/>
    <p:sldId xmlns:r="http://schemas.openxmlformats.org/officeDocument/2006/relationships" id="263" r:id="Rd2d3ed578ae94213"/>
    <p:sldId xmlns:r="http://schemas.openxmlformats.org/officeDocument/2006/relationships" id="264" r:id="Rc158caa3764349bb"/>
    <p:sldId xmlns:r="http://schemas.openxmlformats.org/officeDocument/2006/relationships" id="265" r:id="Rade2302a2fd941d6"/>
    <p:sldId xmlns:r="http://schemas.openxmlformats.org/officeDocument/2006/relationships" id="266" r:id="R6a9bfba9756b4dfe"/>
    <p:sldId xmlns:r="http://schemas.openxmlformats.org/officeDocument/2006/relationships" id="267" r:id="Rc5310648618c4f3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e2aef8c0414496" /><Relationship Type="http://schemas.openxmlformats.org/officeDocument/2006/relationships/slideMaster" Target="/ppt/slideMasters/slideMaster1.xml" Id="Rb27d9cf28dd0402e" /><Relationship Type="http://schemas.openxmlformats.org/officeDocument/2006/relationships/notesMaster" Target="/ppt/notesMasters/notesMaster1.xml" Id="R964fdae71fee4a6f" /><Relationship Type="http://schemas.openxmlformats.org/officeDocument/2006/relationships/presProps" Target="/ppt/presProps.xml" Id="R7a64540aaf05409a" /><Relationship Type="http://schemas.openxmlformats.org/officeDocument/2006/relationships/viewProps" Target="/ppt/viewProps.xml" Id="R76223bfa157a4541" /><Relationship Type="http://schemas.openxmlformats.org/officeDocument/2006/relationships/tableStyles" Target="/ppt/tableStyles.xml" Id="R8968b3c3856b45a9" /><Relationship Type="http://schemas.openxmlformats.org/officeDocument/2006/relationships/slide" Target="/ppt/slides/slide1.xml" Id="Ree3f4f47e02f4d82" /><Relationship Type="http://schemas.openxmlformats.org/officeDocument/2006/relationships/slide" Target="/ppt/slides/slide2.xml" Id="R67f0fd1413b94e83" /><Relationship Type="http://schemas.openxmlformats.org/officeDocument/2006/relationships/slide" Target="/ppt/slides/slide3.xml" Id="R884ba19b93f64c6e" /><Relationship Type="http://schemas.openxmlformats.org/officeDocument/2006/relationships/slide" Target="/ppt/slides/slide4.xml" Id="R6247a22b22cf4549" /><Relationship Type="http://schemas.openxmlformats.org/officeDocument/2006/relationships/slide" Target="/ppt/slides/slide5.xml" Id="R8eef37dc180b4af1" /><Relationship Type="http://schemas.openxmlformats.org/officeDocument/2006/relationships/slide" Target="/ppt/slides/slide6.xml" Id="R7babcd119d724ae5" /><Relationship Type="http://schemas.openxmlformats.org/officeDocument/2006/relationships/slide" Target="/ppt/slides/slide7.xml" Id="R61f16fc23f7f4db5" /><Relationship Type="http://schemas.openxmlformats.org/officeDocument/2006/relationships/slide" Target="/ppt/slides/slide8.xml" Id="Rd2d3ed578ae94213" /><Relationship Type="http://schemas.openxmlformats.org/officeDocument/2006/relationships/slide" Target="/ppt/slides/slide9.xml" Id="Rc158caa3764349bb" /><Relationship Type="http://schemas.openxmlformats.org/officeDocument/2006/relationships/slide" Target="/ppt/slides/slide10.xml" Id="Rade2302a2fd941d6" /><Relationship Type="http://schemas.openxmlformats.org/officeDocument/2006/relationships/slide" Target="/ppt/slides/slide11.xml" Id="R6a9bfba9756b4dfe" /><Relationship Type="http://schemas.openxmlformats.org/officeDocument/2006/relationships/slide" Target="/ppt/slides/slide12.xml" Id="Rc5310648618c4f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bd21ae330545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8e7ebcfc39444f" /><Relationship Type="http://schemas.openxmlformats.org/officeDocument/2006/relationships/notesMaster" Target="/ppt/notesMasters/notesMaster1.xml" Id="R80949c9d54f44d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d2ea9f1fe24f11" /><Relationship Type="http://schemas.openxmlformats.org/officeDocument/2006/relationships/notesMaster" Target="/ppt/notesMasters/notesMaster1.xml" Id="R94289c82217a40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26be80a71747a7" /><Relationship Type="http://schemas.openxmlformats.org/officeDocument/2006/relationships/notesMaster" Target="/ppt/notesMasters/notesMaster1.xml" Id="Rdc5f974285ea45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8ff24cbb7d4eb4" /><Relationship Type="http://schemas.openxmlformats.org/officeDocument/2006/relationships/notesMaster" Target="/ppt/notesMasters/notesMaster1.xml" Id="R279e463891f447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2dd4ba896f4f6e" /><Relationship Type="http://schemas.openxmlformats.org/officeDocument/2006/relationships/notesMaster" Target="/ppt/notesMasters/notesMaster1.xml" Id="Re913641697a148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e91ac6e3cd4e5b" /><Relationship Type="http://schemas.openxmlformats.org/officeDocument/2006/relationships/notesMaster" Target="/ppt/notesMasters/notesMaster1.xml" Id="R7b2507b68d0d40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98c532b5364900" /><Relationship Type="http://schemas.openxmlformats.org/officeDocument/2006/relationships/notesMaster" Target="/ppt/notesMasters/notesMaster1.xml" Id="Rc06b40c3b5d444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fdfb7307b24f8c" /><Relationship Type="http://schemas.openxmlformats.org/officeDocument/2006/relationships/notesMaster" Target="/ppt/notesMasters/notesMaster1.xml" Id="R3cbc126a3e2049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620704fc7c4620" /><Relationship Type="http://schemas.openxmlformats.org/officeDocument/2006/relationships/notesMaster" Target="/ppt/notesMasters/notesMaster1.xml" Id="Ref3040be81d249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72b77719f04c37" /><Relationship Type="http://schemas.openxmlformats.org/officeDocument/2006/relationships/notesMaster" Target="/ppt/notesMasters/notesMaster1.xml" Id="R11ef54ec49b041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d41d2363e294ab5" /><Relationship Type="http://schemas.openxmlformats.org/officeDocument/2006/relationships/notesMaster" Target="/ppt/notesMasters/notesMaster1.xml" Id="R9dacf3bcf833425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ea06c649b34d56" /><Relationship Type="http://schemas.openxmlformats.org/officeDocument/2006/relationships/notesMaster" Target="/ppt/notesMasters/notesMaster1.xml" Id="R88d081ba1f3a4e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3d97bd0ec4455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564730551044ea" /><Relationship Type="http://schemas.openxmlformats.org/officeDocument/2006/relationships/slideLayout" Target="/ppt/slideLayouts/slideLayout1.xml" Id="Ra0e6e3c5cd104c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e6e3c5cd104c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22ca71158483f" /><Relationship Type="http://schemas.openxmlformats.org/officeDocument/2006/relationships/image" Target="/ppt/media/image.png" Id="R0cf95fc67cb44cb7" /><Relationship Type="http://schemas.openxmlformats.org/officeDocument/2006/relationships/notesSlide" Target="/ppt/notesSlides/notesSlide1.xml" Id="Rf7f56e97676b4f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2f86a0c8e48e6" /><Relationship Type="http://schemas.openxmlformats.org/officeDocument/2006/relationships/notesSlide" Target="/ppt/notesSlides/notesSlide2.xml" Id="R393f8d5d96e54e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5623983b948bd" /><Relationship Type="http://schemas.openxmlformats.org/officeDocument/2006/relationships/notesSlide" Target="/ppt/notesSlides/notesSlide3.xml" Id="Re8b71bc40fe048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e1561c6bc423e" /><Relationship Type="http://schemas.openxmlformats.org/officeDocument/2006/relationships/notesSlide" Target="/ppt/notesSlides/notesSlide4.xml" Id="R1d6b32322e2940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959bc135c4c3f" /><Relationship Type="http://schemas.openxmlformats.org/officeDocument/2006/relationships/notesSlide" Target="/ppt/notesSlides/notesSlide5.xml" Id="R9b395cfa1af14a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8c671ed904a00" /><Relationship Type="http://schemas.openxmlformats.org/officeDocument/2006/relationships/notesSlide" Target="/ppt/notesSlides/notesSlide6.xml" Id="R1c61f7cb2a6745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e04d3ecfa4b9b" /><Relationship Type="http://schemas.openxmlformats.org/officeDocument/2006/relationships/notesSlide" Target="/ppt/notesSlides/notesSlide7.xml" Id="R308360e9e1c146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c11a52be9479f" /><Relationship Type="http://schemas.openxmlformats.org/officeDocument/2006/relationships/notesSlide" Target="/ppt/notesSlides/notesSlide8.xml" Id="R83609a9f5a5747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4535e4128491b" /><Relationship Type="http://schemas.openxmlformats.org/officeDocument/2006/relationships/notesSlide" Target="/ppt/notesSlides/notesSlide9.xml" Id="Rec334000c36b47f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e639bba4124d93" /><Relationship Type="http://schemas.openxmlformats.org/officeDocument/2006/relationships/image" Target="/ppt/media/image2.png" Id="R656ff09b34424818" /><Relationship Type="http://schemas.openxmlformats.org/officeDocument/2006/relationships/notesSlide" Target="/ppt/notesSlides/notesSlide10.xml" Id="R554b5dedbfcd409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1d865f53540b3" /><Relationship Type="http://schemas.openxmlformats.org/officeDocument/2006/relationships/image" Target="/ppt/media/image3.png" Id="Re3c5083f634d4e0e" /><Relationship Type="http://schemas.openxmlformats.org/officeDocument/2006/relationships/notesSlide" Target="/ppt/notesSlides/notesSlide11.xml" Id="R4d735560d8f848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c3c249d6e4679" /><Relationship Type="http://schemas.openxmlformats.org/officeDocument/2006/relationships/notesSlide" Target="/ppt/notesSlides/notesSlide12.xml" Id="R6289795f2e1145d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369043-F931-4CF9-9631-A8822784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8798B-4F07-43E2-A823-3982C218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209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6D9B9F-BBE5-44C8-9D71-D9AE977F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Current-based inverse inference for 1D PNP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E7D95-7953-4CB9-94B4-9701A01E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287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Can electrode current identify diffusion parameters?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DD090-AAE8-4246-A8F2-2F75ACEE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A trained PINN is used as a reusable forward surrogate for Bayesian inference over Dp and Dn.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f95fc67cb44cb7"/>
          <a:stretch xmlns:a="http://schemas.openxmlformats.org/drawingml/2006/main"/>
        </p:blipFill>
        <p:spPr>
          <a:xfrm xmlns:a="http://schemas.openxmlformats.org/drawingml/2006/main">
            <a:off x="2924175" y="3714750"/>
            <a:ext cx="6343650" cy="17621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80ED5C-C7AE-4931-904A-69C4C4D1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Jack Jia | June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FA8B2B-341F-4B18-977D-95F0079E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2E4E15-D0CC-4DE1-93C1-1861C20E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Talk thesis</a:t>
            </a:r>
          </a:p>
        </p:txBody>
      </p:sp>
    </p:spTree>
    <p:extLst>
      <p:ext uri="{BB962C8B-B14F-4D97-AF65-F5344CB8AC3E}">
        <p14:creationId xmlns:p14="http://schemas.microsoft.com/office/powerpoint/2010/main" val="186305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DA91ED-C8A3-4012-AC44-4A53C085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C5312F-3C0F-418C-B245-147BB154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MOTIVATION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A55D50-3F05-4461-B5C4-F37E10EB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AA591-F22F-49D2-A03B-782A8276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F418B-BB9C-4FDE-A8ED-F680BC9A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DDF3C5-FA68-4128-810D-303784A6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inverse problem must start from what the experiment measures.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D136E-4797-4D38-A9F7-30605E72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7165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PINN may predict fields, but the likelihood should be built from current.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4F2DB-50BA-4374-AA81-1D627573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19375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757460-EFC0-4B70-97E5-15F1D6D5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Hidden 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EFDDC8-43AD-4E99-A7CE-20350C0D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81375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cp(x,t), cn(x,t), phi(x,t)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02DF73-2EBD-4D92-AB40-953D9368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005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useful for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D9FAC4-6702-43F8-B19D-83E7EA5A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19375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12AE4-4470-4679-9C1F-E8DC1BD0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19375"/>
            <a:ext cx="409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34C7A-0366-4747-AAA3-C1D1796F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9146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Measured 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43A14A-4C8D-4407-9501-F6A9B218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381375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electrode current I(t)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B38EAA-79EF-420F-94D1-0D51BF43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0005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used for inference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BC3E1D-3009-4BBA-ADAF-1B8A8B03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3054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56F93C-A9E8-4252-AB85-B424ECF6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219700"/>
            <a:ext cx="5734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Unknowns: Dp and Dn.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56A0F6-528B-4A43-8E63-E6AAA94D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691A78-23E3-4A56-9C5C-50BD8216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562600"/>
            <a:ext cx="5734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Data: noisy current observations.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FEEC5D-3C18-499A-A78A-0EEA63EF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832547-BB91-4354-82C6-83372025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Observation model</a:t>
            </a:r>
          </a:p>
        </p:txBody>
      </p:sp>
    </p:spTree>
    <p:extLst>
      <p:ext uri="{BB962C8B-B14F-4D97-AF65-F5344CB8AC3E}">
        <p14:creationId xmlns:p14="http://schemas.microsoft.com/office/powerpoint/2010/main" val="20679879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76BB21-8216-444D-9A5E-C0F38BF9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457DF9-128F-4B9B-AEFB-4FE3299D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FORWARD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6461F4-07D5-4F52-AA45-E8F6BE66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9DDF15-5758-4400-A3DD-2A5508DD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2EAC4F-8C09-4B51-BFC8-85E9B8E2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3347E-2411-4B9D-B287-451A8E7C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controlled benchmark is a blocking-electrode PNP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52CEB-D2C6-4788-B5B2-7DB70D5A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547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A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BAC46-9825-4582-B3FD-C26BDF27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5476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A6A37A-6141-469D-8E06-8869084D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05050"/>
            <a:ext cx="501967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Jp = -Dp cp_x - Dp z+ cp phi_x</a:t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Jn = -Dn cn_x - Dn z- cn phi_x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cp_t + Jp_x = 0,    cn_t + Jn_x = 0</a:t>
            </a:r>
          </a:p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-epsilon phi_xx - (z+ cp + z- cn) =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33742-EE45-4AFC-BF6E-3C173B30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429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79C8C9-91A5-4A56-9959-802C8681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00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Parameter box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40452-3FAD-42D2-8C57-880AF16C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7813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x in [0,1],  t in [0,0.2]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Dp, Dn in [0.5,2.0]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true case: Dp = Dn = 1.25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phi(0) = -0.5, phi(1) = 0.5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694CC2-C825-4355-BDE4-95561F1C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0540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Blocking boundary: ions do not cross the electrode, but charging current can still be measured.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C139E9-E9F9-4654-8694-2E6D1E53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4FAD8-E6EE-4497-A7AB-FC782550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Physical setup and assumptions</a:t>
            </a:r>
          </a:p>
        </p:txBody>
      </p:sp>
    </p:spTree>
    <p:extLst>
      <p:ext uri="{BB962C8B-B14F-4D97-AF65-F5344CB8AC3E}">
        <p14:creationId xmlns:p14="http://schemas.microsoft.com/office/powerpoint/2010/main" val="131853015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A0C265-3C18-4D1A-82F3-C596CC49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6B7F2-F341-41A6-84BC-51C97FAB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PINN SURROGATE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6E8083-0D69-40BB-86D3-76B956F2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F033B-CD23-44D9-9486-41D634DD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D0BD65-A242-4DE0-A980-19C79605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00492F-3824-423F-B009-E228D5C8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PINN learns the forward map, not the inverse answer.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E4505-4065-440F-AA10-886BFD67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7165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This distinction is the core role of the neural network.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63307-50C4-4A10-BD39-555FACEE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247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EFB3A-81F8-4F23-97BA-8028458D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146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DDAB60-B8A6-4C20-9F81-9F6833A9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95675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(x, t, Dp, Dn)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E265BD-8E0C-46AF-82FC-6914E156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29000"/>
            <a:ext cx="90487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E13E5C-5E4C-4C82-BF5C-9EB27E82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27A63-A753-4EEB-8FF8-123201A3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95575"/>
            <a:ext cx="2381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4DBA4-E76E-49C7-ADBE-A331B654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95575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F90943-8608-490B-AD57-B53F1442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9813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PINN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004C1-DB2D-4B46-A961-68C1E72B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343275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8-layer tanh MLP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width 256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JAX / Equinox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B3872A-8371-4A85-B5E8-12F80510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90487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CC6098-AF85-4246-8FA3-265F64D9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FEFE90-C7F9-4986-8E82-F1792FB1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05125"/>
            <a:ext cx="2333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C48049-6175-4F68-B8CE-5193B59D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05125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4FE1F2-BF12-41C2-A528-C3BA60D9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1146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9B4B07-072F-4749-9303-95A9F05E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495675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(cp, cn, phi)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C7AA98-7446-451D-A5BA-2D48C404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08635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598992-8CBD-4BC3-8688-D617FDCA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5000625"/>
            <a:ext cx="78771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One trained model can be evaluated at many candidate parameter pairs.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4544D0-EB9A-44C2-AB3F-F8B5DAAA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448300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93CF35-69B5-46F7-88B8-A7689DEA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5362575"/>
            <a:ext cx="78771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inverse problem compares current predicted from this state map.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E1456F-4EBE-4829-A621-F2F5204E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084521-6F54-4B1C-9CC2-1C848AED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What the neural network represents</a:t>
            </a:r>
          </a:p>
        </p:txBody>
      </p:sp>
    </p:spTree>
    <p:extLst>
      <p:ext uri="{BB962C8B-B14F-4D97-AF65-F5344CB8AC3E}">
        <p14:creationId xmlns:p14="http://schemas.microsoft.com/office/powerpoint/2010/main" val="170695388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EFBF7E-297B-4678-A36C-F9FCA0C4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CCC0A5-70AC-43A7-9FFB-34FB6EC6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571DA-1700-4A48-844E-BED5F5B6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1A1FD-F3EB-4F55-B9B9-C88E1F62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7CA0B-BB95-412B-9619-90EAB4F2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18F9DE-6CB0-4ECC-8A04-5BD21D0E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47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Training makes the network satisfy the PNP equations over parameter space.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AE9C7C-15E9-451A-B839-A54D7CD4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981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reference solver is used later for validation and synthetic observations, not as pointwise training labels.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37815-E67D-4FAD-A201-A8F11E5A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2714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08E81-400B-48C8-884F-BFAB772A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271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7696BB-8206-47EA-BED3-BF907106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8135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PDE residuals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68E74-B756-4C3D-B554-8D9E05E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2714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5C2C20-D8F4-47E6-BADB-78AD4A75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271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F8B960-4D1A-4983-846C-18A8918D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8135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Initial and boundary conditions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308332-A0EC-4509-AE66-19B6693F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57500"/>
            <a:ext cx="2714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40CD3E-8C63-48C8-990C-28FE5ED4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57500"/>
            <a:ext cx="2714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C9DACE-CBDD-4999-9E93-ED59B28E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8135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Parameter-domain sampling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C48F9E-58E9-4489-B891-7D8F004D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72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Loss = physics residuals + constraints + parameter coverage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43B2C2-2AC4-4158-8A9A-4349C97E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257800"/>
            <a:ext cx="4857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Current completed run: 500000 Adam steps.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3F73D9-094F-450D-A4F2-835552E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D5E913-F821-4A33-9634-4ECAAEC2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Training objective</a:t>
            </a:r>
          </a:p>
        </p:txBody>
      </p:sp>
    </p:spTree>
    <p:extLst>
      <p:ext uri="{BB962C8B-B14F-4D97-AF65-F5344CB8AC3E}">
        <p14:creationId xmlns:p14="http://schemas.microsoft.com/office/powerpoint/2010/main" val="8982142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75FDA9-832B-4BC8-B355-B6AF0D6B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93124-3B63-4B52-BBAC-5DF7BC88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AMORTIZATION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087B8F-2EC5-4225-9544-EA3E0229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590F5A-14BA-4C72-AE96-D089647B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B8E08-E182-49F4-9B82-453B4F59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034A6A-2EAC-4679-92D6-00DA6759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computational benefit is reuse across many likelihood evaluations.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9B0953-FF4D-4155-A0CC-007C8A41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28875"/>
            <a:ext cx="385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18BEA-BCD9-4309-A7CE-FCEF841E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432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Benchmark-only inference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CFBC77-964A-442B-8E7A-5DC65B35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337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candidate parameters</a:t>
            </a:r>
          </a:p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-&gt; numerical PDE solve</a:t>
            </a:r>
          </a:p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-&gt; current prediction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E22179-978F-41ED-8D13-E4B50E6F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29000"/>
            <a:ext cx="161925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4AD34-E0FD-4E74-B1CB-5E8ACBD8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4840BF-EEA0-4D82-B29E-0367B300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957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many times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AE1B2B-D810-4550-A419-E273F40F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28875"/>
            <a:ext cx="385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405D2-4372-4859-9D6F-A728162C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28875"/>
            <a:ext cx="3857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3CBA32-D094-4E00-B0AF-92DDC7D7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PINN-based inference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984475-BD57-4177-B5B3-5F88FAF1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33750"/>
            <a:ext cx="276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candidate parameters</a:t>
            </a:r>
          </a:p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-&gt; trained PINN evaluation</a:t>
            </a:r>
          </a:p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-&gt; current prediction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4146E6-FCF1-41F4-BE0D-4EFE02AB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857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Training is expensive once; inference becomes useful when the forward surrogate is reused many times.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2F0B2E-9BC7-4176-8C23-389A9CAC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97CD74-A819-4EEC-9541-EEC41344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Why a PINN is useful here</a:t>
            </a:r>
          </a:p>
        </p:txBody>
      </p:sp>
    </p:spTree>
    <p:extLst>
      <p:ext uri="{BB962C8B-B14F-4D97-AF65-F5344CB8AC3E}">
        <p14:creationId xmlns:p14="http://schemas.microsoft.com/office/powerpoint/2010/main" val="78373734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27B3E8-43E8-4AFD-9068-344E8D03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DF9F6-1700-4A2E-9A9F-541A0EBB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SYNTHETIC EXPERIMENT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FCB917-2958-487E-9163-067308DF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7DEAC8-D1DC-446D-94F5-5D27818E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12673-4759-4601-824B-F3867E58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F1CA1-19CC-423D-B3FD-956A5F2D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47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current data are generated independently of the PINN.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02FD0E-DC7F-4AF4-9B64-450E5E9E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716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This keeps the inverse test honest: the surrogate is tested against a separate numerical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5A16D8-0914-4A15-95D3-FAA330A7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1431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A774E5-B5C3-46CC-A4F6-B20E3839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143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C06318-0BC2-48A3-8D91-EEB0B871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956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true 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C0FCF-EF6F-4388-8603-0BE51FBC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623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 = 1.25</a:t>
            </a:r>
          </a:p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Dn = 1.25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CC917-286B-4E4B-87F1-878E6C42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90925"/>
            <a:ext cx="80962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D16978-2C0F-4EFE-B2D0-69851167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7662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6A301C-DE25-4F04-BB0E-9B3C9DD7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43250"/>
            <a:ext cx="24288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C39095-29E6-4C06-B543-DF382D1D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43250"/>
            <a:ext cx="2428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6389ED-4B06-4BB2-AC12-C0C3085C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29565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reference solver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C62BA6-0A1E-426C-9563-D683BE15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56235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</a:t>
            </a:r>
          </a:p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BDF integration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CB5C3B-DAB0-43AF-A382-853CB62C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590925"/>
            <a:ext cx="809625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0D75BF-4AF5-4CA7-AE5F-826ACC80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47662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ABD2E2-385A-4E33-8226-9D094BBC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9E8F94-5417-4AFF-8BB8-487F3AE5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1809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EECC9-C3A4-4F31-9DA8-DC2786C3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956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observation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F200FF-3E63-4A9F-8D6F-5D11673D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09975"/>
            <a:ext cx="1190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2% Gaussian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A464F4-C9D7-43E6-96CA-5AA9C9B3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590925"/>
            <a:ext cx="49530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1C559D-D05D-449B-99A4-C5A66B46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47662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6C00E7-E79F-4288-A2CF-CD3B4AAC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325755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79</a:t>
            </a:r>
          </a:p>
          <a:p xmlns:a="http://schemas.openxmlformats.org/drawingml/2006/main">
            <a:pPr algn="ctr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current</a:t>
            </a:r>
          </a:p>
          <a:p xmlns:a="http://schemas.openxmlformats.org/drawingml/2006/main">
            <a:pPr algn="ctr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intervals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63E849-0FAD-472B-BDD7-32B6FD6F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3D1117-C85D-40EF-8CBA-78395D6E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Reference solver to synthetic current observations</a:t>
            </a:r>
          </a:p>
        </p:txBody>
      </p:sp>
    </p:spTree>
    <p:extLst>
      <p:ext uri="{BB962C8B-B14F-4D97-AF65-F5344CB8AC3E}">
        <p14:creationId xmlns:p14="http://schemas.microsoft.com/office/powerpoint/2010/main" val="54888767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09D883-BC3F-469B-B247-68B32AB0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DE7BB-CBB4-4085-8E57-87058C69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CURRENT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4DCE-A9E8-408E-B153-778B8FCC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CD8D5-80D0-485E-A308-DDBE6C6B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7A83A-064B-4239-A80F-E80860E8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9FAE28-F1F7-4303-9FF9-1D410391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572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Q(t) is a simulator construction; the observation is current I(t).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AF7641-66C5-456D-984A-BF0A4AB2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3714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84871B-A9A9-44DC-9124-23EA5BBF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371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01DC69-8993-49A6-ABE7-1D782A01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experiment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C1467-DF00-4C43-B59A-757E00C5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6230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external circuit</a:t>
            </a:r>
          </a:p>
          <a:p xmlns:a="http://schemas.openxmlformats.org/drawingml/2006/main">
            <a:pPr algn="l">
              <a:defRPr sz="18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measures I(t)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9993C-A56D-42F6-B635-309B67EB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4762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A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FADF64-6B61-42EA-9882-E3C1189E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476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9CDC15-E37D-497F-A650-101611AD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90800"/>
            <a:ext cx="43053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PNP state -&gt; charge density -&gt; Q_L(t)</a:t>
            </a:r>
          </a:p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I_k = [Q_L(t_{k+1}) - Q_L(t_k)] / delta 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E3D7FE-2495-4FAF-8CD3-BB4DD620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067300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Q(t) route avoids unstable boundary derivatives when computing the current from a learned field.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DFE019-07E1-4CA6-B7D3-09895C25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637DF2-8DE0-4828-804E-BA4F873F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Current measurement and simulation-side construction</a:t>
            </a:r>
          </a:p>
        </p:txBody>
      </p:sp>
    </p:spTree>
    <p:extLst>
      <p:ext uri="{BB962C8B-B14F-4D97-AF65-F5344CB8AC3E}">
        <p14:creationId xmlns:p14="http://schemas.microsoft.com/office/powerpoint/2010/main" val="21301833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167646-D42A-44C7-A580-8A8F92F6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6A753-89DF-4920-90A2-57FBEDFC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BAYESIAN INVERSE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3A8F14-26BD-413F-89AA-7D48E0DA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B93A8-8AC2-4B14-81F3-5792F889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853696-C85C-414B-B614-0BD26EFF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A21676-9ABF-443A-B0D5-98D433AE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posterior compares observed current with PINN-predicted current.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07F12-86A8-4277-8BD3-D5EB1073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7165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current diagnostic uses a transparent 41 by 41 grid posterior.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EEC9F1-4ACE-4C93-B0F4-67F36F36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4762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7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5C410E-B940-42D9-9375-370771BD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476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D2E47-422A-489D-BF98-E6D07AEB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6050"/>
            <a:ext cx="4305300" cy="1781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I_obs,k = I_PINN,k(Dp,Dn) + eps_k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eps_k ~ Normal(0, sigma^2)</a:t>
            </a:r>
          </a:p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r_k = [I_PINN,k - I_obs,k] / sigma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E7E5E2-096F-4AEC-B5E0-9EC367AE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76500"/>
            <a:ext cx="4762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C8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A75872-BD5E-4507-9BD2-A4A7580E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76500"/>
            <a:ext cx="476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D5169C-2817-4859-BFEC-2D8E91C8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686050"/>
            <a:ext cx="4305300" cy="1781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p(Dp,Dn | I_obs)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proportional 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exp(-0.5 sum_k r_k^2) x prior(Dp,Dn)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6BB9D9-FD88-469A-94AF-A4D0B296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857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Uniform prior over the grid; posterior mass is normalized after evaluating all candidates.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0E93E-DC9D-4285-B572-8524A7E4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62EC06-D256-4938-8550-E47E517A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Likelihood and posterior</a:t>
            </a:r>
          </a:p>
        </p:txBody>
      </p:sp>
    </p:spTree>
    <p:extLst>
      <p:ext uri="{BB962C8B-B14F-4D97-AF65-F5344CB8AC3E}">
        <p14:creationId xmlns:p14="http://schemas.microsoft.com/office/powerpoint/2010/main" val="100394490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DE3002-4476-4228-AA95-501E87AF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25D421-770B-4C3B-8EB2-E2153A88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CURRENT FIT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DD94D-5FFE-4FC5-AC00-59BD0C8C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D4C290-26FF-423A-B889-9CE6AB9E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F822A-68F1-47F8-979B-C41D7F3A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1CC14-B586-4040-B253-9142FDF3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47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At the MAP point, the PINN matches the observed current at the noise level.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ff09b34424818"/>
          <a:stretch xmlns:a="http://schemas.openxmlformats.org/drawingml/2006/main"/>
        </p:blipFill>
        <p:spPr>
          <a:xfrm xmlns:a="http://schemas.openxmlformats.org/drawingml/2006/main">
            <a:off x="1287128" y="2000250"/>
            <a:ext cx="6903118" cy="38576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5981E8-4607-43D5-87F3-E0875078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2412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8B42A-FFD1-4114-B6D6-9E22A5421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38450"/>
            <a:ext cx="1762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 = 1.25</a:t>
            </a:r>
          </a:p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Dn = 1.2125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56360B-57C3-4786-A344-9AC30FDF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005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97E062-1784-4C09-A77C-F82D1493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3053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79 current intervals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2% relative noise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10C553-11A0-4B1F-8AC7-731D0F3D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9A74A7-B90B-4456-B1E2-C995AC3F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Fit on the likelihood signal</a:t>
            </a:r>
          </a:p>
        </p:txBody>
      </p:sp>
    </p:spTree>
    <p:extLst>
      <p:ext uri="{BB962C8B-B14F-4D97-AF65-F5344CB8AC3E}">
        <p14:creationId xmlns:p14="http://schemas.microsoft.com/office/powerpoint/2010/main" val="121125992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484C99-6DED-426B-97DB-B75EA494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583236-60E4-452D-BB1C-C3A51B63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POSTERIOR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E15A8-6D56-4D1D-BC53-778408BE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1079E-D0FD-44AD-8E6B-CC277583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A10690-44CA-474E-BAE3-E32D48C7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D56919-731B-4D1A-9D0E-A279E034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The posterior covers the true parameters and shows coupled uncertainty.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5083f634d4e0e"/>
          <a:stretch xmlns:a="http://schemas.openxmlformats.org/drawingml/2006/main"/>
        </p:blipFill>
        <p:spPr>
          <a:xfrm xmlns:a="http://schemas.openxmlformats.org/drawingml/2006/main">
            <a:off x="1093350" y="1857375"/>
            <a:ext cx="4899900" cy="4095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88CE7-2049-4422-A9EC-624A0C78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1907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05A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05A2A"/>
                </a:solidFill>
                <a:latin typeface="Aptos"/>
                <a:ea typeface="Aptos"/>
                <a:cs typeface="Aptos"/>
              </a:rPr>
              <a:t>true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8D3B9-789C-48B9-97ED-6004825D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4765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 = 1.25, Dn = 1.25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EC4C1-A7EF-441E-80BE-FC7E3AAB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1908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4E7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4E79"/>
                </a:solidFill>
                <a:latin typeface="Aptos"/>
                <a:ea typeface="Aptos"/>
                <a:cs typeface="Aptos"/>
              </a:rPr>
              <a:t>posterior mean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6735BE-CDF1-489E-A8E7-A718A3B3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476625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 = 1.2353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Dn = 1.2368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702E70-AB9E-400A-91B9-2A9EAAC5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619625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95% marginal intervals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1614C-6EDC-4258-81B1-8B2EFE2B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905375"/>
            <a:ext cx="3190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Dp: [1.0625, 1.4000]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Dn: [1.0625, 1.4375]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88274-8ECE-4509-8C0B-29A8AEC9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67690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The true values are inside the reported intervals.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3BD427-9B3A-46B5-9B51-24B9D0A0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16F472-2944-4317-9D00-65C44DD8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Posterior over diffusion parameters</a:t>
            </a:r>
          </a:p>
        </p:txBody>
      </p:sp>
    </p:spTree>
    <p:extLst>
      <p:ext uri="{BB962C8B-B14F-4D97-AF65-F5344CB8AC3E}">
        <p14:creationId xmlns:p14="http://schemas.microsoft.com/office/powerpoint/2010/main" val="170358071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9ACADB-5F34-4013-926A-1EBD13FB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00831-02F8-43B0-911F-553715D6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D6D6D"/>
                </a:solidFill>
                <a:latin typeface="Aptos"/>
                <a:ea typeface="Aptos"/>
                <a:cs typeface="Aptos"/>
              </a:rPr>
              <a:t>TAKEAWAY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172473-F6D1-45F5-B710-7EDFC688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00050"/>
            <a:ext cx="457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E7CC8-96D4-4D38-A7C0-9AD0890C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337D5-18EF-47B6-8016-DA9EC0D3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D683A-0C14-4BBF-AA29-8B49D8AC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47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51515"/>
                </a:solidFill>
                <a:latin typeface="Aptos Display"/>
                <a:ea typeface="Aptos Display"/>
                <a:cs typeface="Aptos Display"/>
              </a:rPr>
              <a:t>This is a controlled proof of concept for current-based PINN inverse inference.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890BA-B11B-4E41-81AA-757F97156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5622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49A797-7A1C-4C21-A5FB-5C0D9FDF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2476500"/>
            <a:ext cx="840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observation is experimentally meaningful current, not hidden fields.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87EDA-E0F4-416F-854C-0F044828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527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FB555-CB29-45AA-93FC-6AC1681C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067050"/>
            <a:ext cx="840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PINN acts as a reusable forward model, not as the data generator.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77537-9783-4DF6-89A7-0ACBEC0A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433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F8EA6-8D56-45A7-9990-3CEB7BBA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657600"/>
            <a:ext cx="840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output is a posterior over Dp and Dn, so uncertainty is explicit.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FAF5E8-7C7B-41A8-98F7-3C269DD8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9530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F7D5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F7D55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BD5909-3D40-4460-B283-B199C5A1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267325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D6D6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D6D6D"/>
                </a:solidFill>
                <a:latin typeface="Aptos"/>
                <a:ea typeface="Aptos"/>
                <a:cs typeface="Aptos"/>
              </a:rPr>
              <a:t>Test more true parameter pairs, vary noise and time sampling, then replace the grid posterior by MCMC when the parameter space grows.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C06F3F-4017-4063-BFE4-7908500E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3DA7F-BF11-4BBA-BD96-2229EAC5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7736D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7736D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8370163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2026-06-02T11:59:24.2570000Z</dcterms:created>
  <dcterms:modified xsi:type="dcterms:W3CDTF">2026-06-02T11:59:24.2570000Z</dcterms:modified>
</coreProperties>
</file>