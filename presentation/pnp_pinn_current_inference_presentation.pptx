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aee11dd9fa4ee0" /><Relationship Type="http://schemas.openxmlformats.org/officeDocument/2006/relationships/extended-properties" Target="/docProps/app.xml" Id="R9b1c78e82a074a59" /><Relationship Type="http://schemas.openxmlformats.org/officeDocument/2006/relationships/officeDocument" Target="/ppt/presentation.xml" Id="Ra8df0c0d706647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05f70cea214c15"/>
  </p:sldMasterIdLst>
  <p:notesMasterIdLst>
    <p:notesMasterId xmlns:r="http://schemas.openxmlformats.org/officeDocument/2006/relationships" r:id="Ref394cb0963a4f7f"/>
  </p:notesMasterIdLst>
  <p:sldIdLst>
    <p:sldId xmlns:r="http://schemas.openxmlformats.org/officeDocument/2006/relationships" id="256" r:id="R93a2b13e2d0544cf"/>
    <p:sldId xmlns:r="http://schemas.openxmlformats.org/officeDocument/2006/relationships" id="257" r:id="Re27ba18f61be4e83"/>
    <p:sldId xmlns:r="http://schemas.openxmlformats.org/officeDocument/2006/relationships" id="258" r:id="Rbe760ff899d640bf"/>
    <p:sldId xmlns:r="http://schemas.openxmlformats.org/officeDocument/2006/relationships" id="259" r:id="R842d24466a5b4bf6"/>
    <p:sldId xmlns:r="http://schemas.openxmlformats.org/officeDocument/2006/relationships" id="260" r:id="R6d0a7871d1644a8a"/>
    <p:sldId xmlns:r="http://schemas.openxmlformats.org/officeDocument/2006/relationships" id="261" r:id="R80767a8c33364fc3"/>
    <p:sldId xmlns:r="http://schemas.openxmlformats.org/officeDocument/2006/relationships" id="262" r:id="R05069fc7bb824a49"/>
    <p:sldId xmlns:r="http://schemas.openxmlformats.org/officeDocument/2006/relationships" id="263" r:id="R5eb1076eda364e32"/>
    <p:sldId xmlns:r="http://schemas.openxmlformats.org/officeDocument/2006/relationships" id="264" r:id="Rfd07161beb2d4754"/>
    <p:sldId xmlns:r="http://schemas.openxmlformats.org/officeDocument/2006/relationships" id="265" r:id="Ra098f90343704c2d"/>
    <p:sldId xmlns:r="http://schemas.openxmlformats.org/officeDocument/2006/relationships" id="266" r:id="R0d95b331b44b4283"/>
    <p:sldId xmlns:r="http://schemas.openxmlformats.org/officeDocument/2006/relationships" id="267" r:id="Rf6b698d3dd1a4db3"/>
    <p:sldId xmlns:r="http://schemas.openxmlformats.org/officeDocument/2006/relationships" id="268" r:id="R2afa463711c84e15"/>
    <p:sldId xmlns:r="http://schemas.openxmlformats.org/officeDocument/2006/relationships" id="269" r:id="Rfe81899363724d2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f192a9d4ce4e2b" /><Relationship Type="http://schemas.openxmlformats.org/officeDocument/2006/relationships/slideMaster" Target="/ppt/slideMasters/slideMaster1.xml" Id="R3f05f70cea214c15" /><Relationship Type="http://schemas.openxmlformats.org/officeDocument/2006/relationships/notesMaster" Target="/ppt/notesMasters/notesMaster1.xml" Id="Ref394cb0963a4f7f" /><Relationship Type="http://schemas.openxmlformats.org/officeDocument/2006/relationships/presProps" Target="/ppt/presProps.xml" Id="Rd3ae7376a4864d48" /><Relationship Type="http://schemas.openxmlformats.org/officeDocument/2006/relationships/viewProps" Target="/ppt/viewProps.xml" Id="R3f6a1b0998714507" /><Relationship Type="http://schemas.openxmlformats.org/officeDocument/2006/relationships/tableStyles" Target="/ppt/tableStyles.xml" Id="R8c47642b7e874b59" /><Relationship Type="http://schemas.openxmlformats.org/officeDocument/2006/relationships/slide" Target="/ppt/slides/slide1.xml" Id="R93a2b13e2d0544cf" /><Relationship Type="http://schemas.openxmlformats.org/officeDocument/2006/relationships/slide" Target="/ppt/slides/slide2.xml" Id="Re27ba18f61be4e83" /><Relationship Type="http://schemas.openxmlformats.org/officeDocument/2006/relationships/slide" Target="/ppt/slides/slide3.xml" Id="Rbe760ff899d640bf" /><Relationship Type="http://schemas.openxmlformats.org/officeDocument/2006/relationships/slide" Target="/ppt/slides/slide4.xml" Id="R842d24466a5b4bf6" /><Relationship Type="http://schemas.openxmlformats.org/officeDocument/2006/relationships/slide" Target="/ppt/slides/slide5.xml" Id="R6d0a7871d1644a8a" /><Relationship Type="http://schemas.openxmlformats.org/officeDocument/2006/relationships/slide" Target="/ppt/slides/slide6.xml" Id="R80767a8c33364fc3" /><Relationship Type="http://schemas.openxmlformats.org/officeDocument/2006/relationships/slide" Target="/ppt/slides/slide7.xml" Id="R05069fc7bb824a49" /><Relationship Type="http://schemas.openxmlformats.org/officeDocument/2006/relationships/slide" Target="/ppt/slides/slide8.xml" Id="R5eb1076eda364e32" /><Relationship Type="http://schemas.openxmlformats.org/officeDocument/2006/relationships/slide" Target="/ppt/slides/slide9.xml" Id="Rfd07161beb2d4754" /><Relationship Type="http://schemas.openxmlformats.org/officeDocument/2006/relationships/slide" Target="/ppt/slides/slide10.xml" Id="Ra098f90343704c2d" /><Relationship Type="http://schemas.openxmlformats.org/officeDocument/2006/relationships/slide" Target="/ppt/slides/slide11.xml" Id="R0d95b331b44b4283" /><Relationship Type="http://schemas.openxmlformats.org/officeDocument/2006/relationships/slide" Target="/ppt/slides/slide12.xml" Id="Rf6b698d3dd1a4db3" /><Relationship Type="http://schemas.openxmlformats.org/officeDocument/2006/relationships/slide" Target="/ppt/slides/slide13.xml" Id="R2afa463711c84e15" /><Relationship Type="http://schemas.openxmlformats.org/officeDocument/2006/relationships/slide" Target="/ppt/slides/slide14.xml" Id="Rfe81899363724d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ceb27090b14c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8d851f89164254" /><Relationship Type="http://schemas.openxmlformats.org/officeDocument/2006/relationships/notesMaster" Target="/ppt/notesMasters/notesMaster1.xml" Id="Rf12a75a833b74f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56ac2715de4e3a" /><Relationship Type="http://schemas.openxmlformats.org/officeDocument/2006/relationships/notesMaster" Target="/ppt/notesMasters/notesMaster1.xml" Id="R0845c05152c740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7cd9c1236449d2" /><Relationship Type="http://schemas.openxmlformats.org/officeDocument/2006/relationships/notesMaster" Target="/ppt/notesMasters/notesMaster1.xml" Id="Rcfac062778df44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7b2dbb4d984a11" /><Relationship Type="http://schemas.openxmlformats.org/officeDocument/2006/relationships/notesMaster" Target="/ppt/notesMasters/notesMaster1.xml" Id="Rb66d661ce74446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352a5147a6483b" /><Relationship Type="http://schemas.openxmlformats.org/officeDocument/2006/relationships/notesMaster" Target="/ppt/notesMasters/notesMaster1.xml" Id="R7e8af86e78b04d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57770fcec64a0d" /><Relationship Type="http://schemas.openxmlformats.org/officeDocument/2006/relationships/notesMaster" Target="/ppt/notesMasters/notesMaster1.xml" Id="R5944160e280b4c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893a613a07493d" /><Relationship Type="http://schemas.openxmlformats.org/officeDocument/2006/relationships/notesMaster" Target="/ppt/notesMasters/notesMaster1.xml" Id="R9d4b3fd878624d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9bc9dacd5a4db7" /><Relationship Type="http://schemas.openxmlformats.org/officeDocument/2006/relationships/notesMaster" Target="/ppt/notesMasters/notesMaster1.xml" Id="Rd8c81b5eca3944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a7fc3838664c8c" /><Relationship Type="http://schemas.openxmlformats.org/officeDocument/2006/relationships/notesMaster" Target="/ppt/notesMasters/notesMaster1.xml" Id="Reb21d0b841a94f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1eac7212224a32" /><Relationship Type="http://schemas.openxmlformats.org/officeDocument/2006/relationships/notesMaster" Target="/ppt/notesMasters/notesMaster1.xml" Id="R0604d7d25c5d48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1f077cb1e44287" /><Relationship Type="http://schemas.openxmlformats.org/officeDocument/2006/relationships/notesMaster" Target="/ppt/notesMasters/notesMaster1.xml" Id="R410c40e710184e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0b0d0348be44cc" /><Relationship Type="http://schemas.openxmlformats.org/officeDocument/2006/relationships/notesMaster" Target="/ppt/notesMasters/notesMaster1.xml" Id="Ra1237f8ebc554e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fc291c81734c8c" /><Relationship Type="http://schemas.openxmlformats.org/officeDocument/2006/relationships/notesMaster" Target="/ppt/notesMasters/notesMaster1.xml" Id="R68d60f7a40be41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1d00dbba4342d1" /><Relationship Type="http://schemas.openxmlformats.org/officeDocument/2006/relationships/notesMaster" Target="/ppt/notesMasters/notesMaster1.xml" Id="Ra319908d066544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fedbf42c7e46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7fc3c19a2f47f2" /><Relationship Type="http://schemas.openxmlformats.org/officeDocument/2006/relationships/slideLayout" Target="/ppt/slideLayouts/slideLayout1.xml" Id="Ra744cb83a0d148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44cb83a0d148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052089e34451f" /><Relationship Type="http://schemas.openxmlformats.org/officeDocument/2006/relationships/image" Target="/ppt/media/image.png" Id="R7ab865d6404d4e7a" /><Relationship Type="http://schemas.openxmlformats.org/officeDocument/2006/relationships/notesSlide" Target="/ppt/notesSlides/notesSlide1.xml" Id="R51d9952dbd134e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66e35ac1a49e0" /><Relationship Type="http://schemas.openxmlformats.org/officeDocument/2006/relationships/notesSlide" Target="/ppt/notesSlides/notesSlide2.xml" Id="R88ac8012e9c74e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c470dcc254dd0" /><Relationship Type="http://schemas.openxmlformats.org/officeDocument/2006/relationships/notesSlide" Target="/ppt/notesSlides/notesSlide3.xml" Id="R2a06c29ddbcc43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6b5934bc7425f" /><Relationship Type="http://schemas.openxmlformats.org/officeDocument/2006/relationships/image" Target="/ppt/media/image2.png" Id="Rf80ac70086974935" /><Relationship Type="http://schemas.openxmlformats.org/officeDocument/2006/relationships/notesSlide" Target="/ppt/notesSlides/notesSlide4.xml" Id="R9f1e7b84a37845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61ca3eebe4c11" /><Relationship Type="http://schemas.openxmlformats.org/officeDocument/2006/relationships/notesSlide" Target="/ppt/notesSlides/notesSlide5.xml" Id="R6b20feca077d4e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2015cbaad471b" /><Relationship Type="http://schemas.openxmlformats.org/officeDocument/2006/relationships/image" Target="/ppt/media/image3.png" Id="R256bb700af724516" /><Relationship Type="http://schemas.openxmlformats.org/officeDocument/2006/relationships/notesSlide" Target="/ppt/notesSlides/notesSlide6.xml" Id="Rd563a7591d4d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d6769938645c5" /><Relationship Type="http://schemas.openxmlformats.org/officeDocument/2006/relationships/notesSlide" Target="/ppt/notesSlides/notesSlide7.xml" Id="R7211d0871a5343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c28829cdc45af" /><Relationship Type="http://schemas.openxmlformats.org/officeDocument/2006/relationships/notesSlide" Target="/ppt/notesSlides/notesSlide8.xml" Id="Rb29dbba86eb748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9072181874565" /><Relationship Type="http://schemas.openxmlformats.org/officeDocument/2006/relationships/image" Target="/ppt/media/image4.png" Id="Ra065f9ddff15449d" /><Relationship Type="http://schemas.openxmlformats.org/officeDocument/2006/relationships/notesSlide" Target="/ppt/notesSlides/notesSlide9.xml" Id="R270ec2c47f4b4a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31a4db5d34178" /><Relationship Type="http://schemas.openxmlformats.org/officeDocument/2006/relationships/image" Target="/ppt/media/image5.png" Id="Ra8c980d234184392" /><Relationship Type="http://schemas.openxmlformats.org/officeDocument/2006/relationships/notesSlide" Target="/ppt/notesSlides/notesSlide10.xml" Id="Rc89974af64eb4f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1da6bdcb74627" /><Relationship Type="http://schemas.openxmlformats.org/officeDocument/2006/relationships/image" Target="/ppt/media/image6.png" Id="R18fcdddd9bab42c1" /><Relationship Type="http://schemas.openxmlformats.org/officeDocument/2006/relationships/notesSlide" Target="/ppt/notesSlides/notesSlide11.xml" Id="Rde83d19112b04b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01b0ce9024fdf" /><Relationship Type="http://schemas.openxmlformats.org/officeDocument/2006/relationships/image" Target="/ppt/media/image7.png" Id="R40ba56f8ec5146c3" /><Relationship Type="http://schemas.openxmlformats.org/officeDocument/2006/relationships/notesSlide" Target="/ppt/notesSlides/notesSlide12.xml" Id="R4087078a9b21401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942c3e48e4672" /><Relationship Type="http://schemas.openxmlformats.org/officeDocument/2006/relationships/notesSlide" Target="/ppt/notesSlides/notesSlide13.xml" Id="R10327aa827d048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d88899c0b45dd" /><Relationship Type="http://schemas.openxmlformats.org/officeDocument/2006/relationships/notesSlide" Target="/ppt/notesSlides/notesSlide14.xml" Id="R871b80b765fa4ca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7D2E53-2D55-45F8-BB92-47CC4B73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865d6404d4e7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5753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C6E86C-4E98-4968-9075-D9E3F5C5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6AB9C-83D1-4012-9EFE-939C9F74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D237D-D5A6-478C-A519-D4B913E4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A1177-9BDC-4450-97A5-5B35CCCB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A2131-05CE-403A-AB54-279F3414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B407B-4F6C-461C-90C0-D0F80946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central question is whether current identifies diffusion parameters.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A92EA-D87F-44EF-A741-9B386992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project connects a measurable signal to a Bayesian posterior over Dp and Dn.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94AFC-A3C1-49F5-B431-6D9157AB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432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6004A-E2B4-4019-A47D-01C2C49B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432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D4B92-B874-46B3-A62D-F710ADB2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PNP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42DCC-D80F-4CDA-920C-927A56CE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432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570100-7290-4129-8715-876B886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432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160A8-6A25-4DE1-9108-03D4D7EE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7660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PINN surrogate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6E35AB-FD01-478C-BB6C-574D85C4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1619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87A7CA-234B-4189-8076-DC4D58E1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F9239D-1152-4304-BE2E-9B7A588F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7660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Current</a:t>
            </a:r>
          </a:p>
          <a:p xmlns:a="http://schemas.openxmlformats.org/drawingml/2006/main">
            <a:pPr algn="ctr">
              <a:defRPr sz="127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likelihood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53455-0C82-4D6F-AC26-DEB077FA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143250"/>
            <a:ext cx="1619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F7D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4F559E-A044-4D33-BE23-BF75E4B2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14325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054645-24B4-4A49-A311-EFC797F8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7660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Posterior</a:t>
            </a:r>
          </a:p>
          <a:p xmlns:a="http://schemas.openxmlformats.org/drawingml/2006/main">
            <a:pPr algn="ctr">
              <a:defRPr sz="127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Dp, Dn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E87682-F2E4-4321-9F94-FB3A8BE0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29000"/>
            <a:ext cx="2476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12C010-6023-45E3-B997-B52F8284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6D9076-A545-44FD-B74A-5316B00C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29000"/>
            <a:ext cx="5524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A55BA-6F31-407D-B3BF-42D06DBB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301902-F5AA-4D8F-9FE2-E53F4D46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8953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12BDBB-D369-426F-8052-BEDDE647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73D68D-6A22-45D8-BDCC-22BF5A44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91125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measurable current -&gt; forward PNP physics -&gt; PINN surrogate -&gt; posterior uncertainty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29F21-D735-48EF-BEDE-2E56C69F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5B7DC5-7D0D-4DF3-B6EA-62B71F13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Talk thesis</a:t>
            </a:r>
          </a:p>
        </p:txBody>
      </p:sp>
    </p:spTree>
    <p:extLst>
      <p:ext uri="{BB962C8B-B14F-4D97-AF65-F5344CB8AC3E}">
        <p14:creationId xmlns:p14="http://schemas.microsoft.com/office/powerpoint/2010/main" val="5150729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243087-DB03-4B2F-AA43-CA4FDF71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EA1AA-B715-4671-9BCA-851A4FAA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9E0C2-ECDA-48EF-9EA9-AE39A2AF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5B9E6-4564-4AAB-897B-8E6FB714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95FFD-86EB-4C45-9625-A9679F91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17DDE-E34D-4BE5-9423-791CC022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inverse problem must start from what the experiment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55782-30BC-48E4-A9FA-50B1CCC6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PINN may predict fields, but the likelihood should be built from current.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D9B21-FDE0-49FB-A118-DC8F3E0B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162BF-CBDB-4DDE-8F2C-0B740B5D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Hidden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5DE83-3E4D-4B3F-B360-3E6A9BB3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cp(x,t), cn(x,t), phi(x,t)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7F50CD-F7F6-4795-BEC1-C2E56A51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useful for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DFD255-A535-487F-AB43-B5E98578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BB93E3-6ED6-46AB-B872-E746AD08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C1D4F-FF95-46E8-B5D6-699C1DD8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813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Measured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FD750-CE4A-468C-8C9E-BD40229B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76650"/>
            <a:ext cx="3048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electrode current I(t)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A7FE6-E999-4915-80C5-0B3C30D9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used for inference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A6665E-3477-46F2-8154-EE44076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81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2DEFFB-2C83-4E55-95E8-8A76AFBB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286375"/>
            <a:ext cx="552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Unknowns: Dp and Dn.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10593D-ACBB-4BA6-9118-CDBE110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62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D26BD6-7E93-4360-8FF1-A1759C0F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67375"/>
            <a:ext cx="552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Data: noisy current observations.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C6B35A-5AE1-40D8-A491-DE84EBF6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C660E6-F762-449D-8EF6-5E25C81D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Observation model</a:t>
            </a:r>
          </a:p>
        </p:txBody>
      </p:sp>
    </p:spTree>
    <p:extLst>
      <p:ext uri="{BB962C8B-B14F-4D97-AF65-F5344CB8AC3E}">
        <p14:creationId xmlns:p14="http://schemas.microsoft.com/office/powerpoint/2010/main" val="16432729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E1D4C7-175E-4D52-B952-FC129AB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C682B-ED2C-4D51-A845-144BB909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99EE4-5ABD-445C-A912-516E3D37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CEA58-076B-408E-B0C7-60F11801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C5C09-B4C4-4F8B-9E09-A9816096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3CE2A-6BD8-44D7-B9DC-9E594C1B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controlled benchmark is a blocking-electrode PNP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1FB6B-A1FC-4479-8A3B-CAA33FD9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81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471E0-DCC8-4488-B376-E60B9EA6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81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0ac70086974935"/>
          <a:stretch xmlns:a="http://schemas.openxmlformats.org/drawingml/2006/main"/>
        </p:blipFill>
        <p:spPr>
          <a:xfrm xmlns:a="http://schemas.openxmlformats.org/drawingml/2006/main">
            <a:off x="1123950" y="2348414"/>
            <a:ext cx="5334000" cy="1789697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1AB32-D39C-46B0-9534-2083A97E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3124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8C4E-DF95-4349-920B-8A5D9382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384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Parameter 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EAB75-E7BB-4869-8DC0-6BA03153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14650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x in [0,1],  t in [0,0.2]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Dp, Dn in [0.5,2.0]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true case: Dp = Dn = 1.25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phi(0) = -0.5, phi(1) = 0.5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74667-8B4A-48DE-B397-8214B191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578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Blocking boundary: ions do not cross the electrode, but charging current can still be measured.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20E8A-D43B-4A93-8632-B21777A0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7D101-4CBB-46CA-BB1A-C9700F81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Physical setup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4244970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0C3717-B295-4795-A9CE-4FF0E13E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2CD61-AF9C-45BE-9FED-BE418046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PINN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40711-5051-4500-BD58-5C6C296B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4D6C0-9FD7-494C-87D6-909AAC4D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F76A4-2CBF-4520-A983-A61D3B09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B0471-4577-4346-A32A-5BF9226F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PINN learns the forward map, not the inverse answer.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019B09-B714-4229-B769-F6791275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This distinction is the core role of the neural network.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F2CF2-712E-44D5-8230-0E7ED9F2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CE6C1-1B3F-4857-A0CF-B2EC8785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69AC3-411F-43F6-A211-1D120E62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9567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(x, t, Dp, Dn)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719C3-21C3-4C4F-81FE-2864CA06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29000"/>
            <a:ext cx="8096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748EC-B3C6-47BF-B016-C60E62F8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BDFDE-7134-4261-9127-A55CB9A5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734F45-A283-430D-BEF2-48EE6EA6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91435-B7F6-4E5B-BAED-25CD350A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981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PINN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151A1-C924-4D04-9294-36AFDD1A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43275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8-layer tanh MLP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width 256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JAX / Equinox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AC317-AF1D-4AA4-B8AC-8E2C883E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8096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BB8C3-1A51-48DA-90A6-4B9C4CB6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83241-9BD1-4513-A6DE-8D78DC28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F9646-B233-4043-92A8-10D3589E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D95BBF-EFAB-41FA-9D86-F5EA4646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709E8-9C8C-4886-989F-A304DBE3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95675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(cp, cn, phi)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1711B1-C231-4A74-88A7-11923DE3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911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699BF-2072-4C8B-B1EB-400ECE98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858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One trained model can be evaluated at many candidate parameter pairs.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06A35F-E1FD-44F8-A54C-74AD6188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721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7DF7A7-1AED-4A83-8EE6-46CC05E0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76875"/>
            <a:ext cx="7858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inverse problem compares current predicted from this state map.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BB05AC-DB84-4FE2-BB43-79ED2A36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E48B3E-A7CB-49E1-A67B-84C9EBB6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What the neural network represents</a:t>
            </a:r>
          </a:p>
        </p:txBody>
      </p:sp>
    </p:spTree>
    <p:extLst>
      <p:ext uri="{BB962C8B-B14F-4D97-AF65-F5344CB8AC3E}">
        <p14:creationId xmlns:p14="http://schemas.microsoft.com/office/powerpoint/2010/main" val="211576986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511BBC-E6ED-4F3F-86AD-59732D07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2CCED-D64E-45EE-968D-D0778EA5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08B0B-A51E-478B-BF0A-B26D0770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9A3B7-0B79-4FF0-A4B7-7EDA20A8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ABE74-77C5-4910-B647-C2632924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D6983-CAE9-4C89-BC6D-745D66AF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Training makes the network satisfy the PNP equations over parameter space.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F3BE5-5D54-4931-853B-F22BA076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reference solver is used later for validation and synthetic observations, not as pointwise training labels.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8F7C0-DBBB-4D87-9099-9C1C6B95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89B01-9B9C-4E99-B958-89438FB2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9631B-3812-4DEA-988D-25F68D3F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PDE residuals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A6E14-C590-4334-9CD3-C89C8DC2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D1886-C5D3-49ED-852A-FF748E8E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F1E57-804B-4C02-B401-993A96FE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Initial and boundary</a:t>
            </a:r>
          </a:p>
          <a:p xmlns:a="http://schemas.openxmlformats.org/drawingml/2006/main">
            <a:pPr algn="ctr">
              <a:defRPr sz="15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conditions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D2799-CC19-404E-A49A-2E66DDED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19400"/>
            <a:ext cx="2714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3748B-BF3D-4303-A06F-5D0B8BD1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194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C50E1-68CD-4251-B9A5-29A5A747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6230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Parameter-domain</a:t>
            </a:r>
          </a:p>
          <a:p xmlns:a="http://schemas.openxmlformats.org/drawingml/2006/main">
            <a:pPr algn="ctr">
              <a:defRPr sz="150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sampling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04617C-894D-4097-A33F-1EFBABBA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38650"/>
            <a:ext cx="771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bb700af724516"/>
          <a:stretch xmlns:a="http://schemas.openxmlformats.org/drawingml/2006/main"/>
        </p:blipFill>
        <p:spPr>
          <a:xfrm xmlns:a="http://schemas.openxmlformats.org/drawingml/2006/main">
            <a:off x="4139434" y="4572000"/>
            <a:ext cx="3894083" cy="7239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05839-EF0B-42B2-8E51-1DA5700E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715000"/>
            <a:ext cx="485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 completed run: 500000 Adam steps.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1352A3-D346-446F-B9EA-C700C106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9EE85-4A03-4C62-9AF3-FA9CC30B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Training objective</a:t>
            </a:r>
          </a:p>
        </p:txBody>
      </p:sp>
    </p:spTree>
    <p:extLst>
      <p:ext uri="{BB962C8B-B14F-4D97-AF65-F5344CB8AC3E}">
        <p14:creationId xmlns:p14="http://schemas.microsoft.com/office/powerpoint/2010/main" val="15575622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125A7D-9C5D-49C3-8B8A-1D859E4F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977A71-E7A0-4F1C-AFCB-4C6ED1F7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AMORTIZATION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99DD7-F11D-4291-A429-46D6F7FB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EB97B-BF51-4406-B58A-8DEE1E77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8FA8C-FFEF-4B18-B283-4F69A612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74B09-5F0E-434C-B8DF-6AF5950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computational benefit is reuse across many likelihood evaluations.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CF1A8-2FDE-4885-830C-3802119C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576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0AD70-F1E4-42AA-9E59-F6EF2C02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71800"/>
            <a:ext cx="2619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Benchmark-only inference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20974-FF0B-4CC0-BF31-A514D504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62350"/>
            <a:ext cx="2714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candidate parameters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numerical PDE solve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current prediction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15130-B8B2-4F95-94DF-6B7DD02D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00450"/>
            <a:ext cx="15716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A5263-9AD0-41E3-8F0C-B8D4CC62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4861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438E5E-840D-4C2A-A8C7-E629A7D7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8862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many times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CC979-6343-4D37-BE72-5E24D6DD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90800"/>
            <a:ext cx="38576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A091B-2FF8-48DF-A5DC-6ED4B6C5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90800"/>
            <a:ext cx="385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A2907-633A-43A7-90A6-C5F8C9ED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71800"/>
            <a:ext cx="2619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PINN-based inference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49D83-8098-48A1-B055-E7461F80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05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candidate parameters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trained PINN evaluation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current prediction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EB0A9-F584-4FE7-AE2E-AD9229BA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34000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Training is expensive once; inference becomes useful when the forward surrogate is reused many times.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570C13-6AE0-4BA4-807B-9F6ADE8B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5BE8FA-9D21-4F93-B26C-B162A660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Why a PINN is useful here</a:t>
            </a:r>
          </a:p>
        </p:txBody>
      </p:sp>
    </p:spTree>
    <p:extLst>
      <p:ext uri="{BB962C8B-B14F-4D97-AF65-F5344CB8AC3E}">
        <p14:creationId xmlns:p14="http://schemas.microsoft.com/office/powerpoint/2010/main" val="1606377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4EE93C-34F9-404A-8587-889F421E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92087-E215-426D-B57D-2FD792F1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SYNTHETIC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EC075-DC1C-477F-B52A-A7254E2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29EF3-ACDC-4E61-BB20-8ACB0E7B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237E7-8806-4086-B989-FC1179F2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0E761-66B7-444C-AE94-63E90D54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current data are generated independently of the PINN.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4C2A7-CCB3-4065-BAFF-0E3821CD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This keeps the inverse test honest: the surrogate is tested against a separate numerical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D05D3-7C7C-4DF0-AD3E-25AF2E73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D9B2D-1E5B-42E4-9DB7-379C8714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E2335-D5F9-46C2-89E6-D0B42E14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147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true 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0974E-2006-4DD5-841B-69E49870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= 1.25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 = 1.25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D4521-C6F7-41E6-A8AB-8BE06BB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95700"/>
            <a:ext cx="71437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7B2F0-668C-4EF0-BD8C-56A2B34B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8F2DA1-E3B3-4B14-8B71-9BB39883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77E77D-5F44-4675-B77C-4ACA62F9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661A18-1C4D-48E2-B6F4-26BA516E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3147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reference solver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2476B-17C5-405F-90C6-D13BFF2C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195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finite difference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BDF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AFCCE-9273-43F4-AE2B-8280A657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71437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3D3118-89BD-4EFD-AC51-31A95898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2DE570-D1FA-4BDC-96FD-77A7F485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F9C5F-79E3-4DDE-B288-E05F09E3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DA4504-BA86-4D23-8276-008E0B18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observation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9C91D5-C035-4734-AFF7-5C39741D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2% Gaussian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C22B3E-90F4-4405-99DE-4F2CF16E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695700"/>
            <a:ext cx="4000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187BC-A836-4465-8D08-82CDEF43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5814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3D49CF-8DA6-40D8-88B9-FC87F17A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337185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79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current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intervals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61A44-A2E2-4170-8BD5-001E3B17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79DE24-DB66-48A7-B3D4-8EB58333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Reference solver to synthetic 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75784406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80CE44-4A81-464B-8C6C-AD3235AB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04F00-3FFF-4AC1-A45C-25620EC0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1882C-743E-4AED-A46B-B8387FD5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34F14-9392-4BF5-9907-670DC016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BCBAC-4250-441F-82CE-2B0FD859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C1EBE-9F73-43EF-AA36-46AEE7A4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Q(t) is a simulator construction; the observation is current I(t).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EC44F-FD2A-4C41-B4F1-5B1AE8AE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3524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477B9-579A-407B-BC34-730E8118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352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1B7FF-E592-46D7-9753-F59D7C8C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14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8D293-FC5A-479F-91EF-FCAC36DD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external circuit</a:t>
            </a:r>
          </a:p>
          <a:p xmlns:a="http://schemas.openxmlformats.org/drawingml/2006/main">
            <a:pPr algn="l">
              <a:defRPr sz="180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measures I(t)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C0624-45AD-4B97-8CE2-D06BBC40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81250"/>
            <a:ext cx="5095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4B857-0105-4C4F-ADD8-D15CDEDB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81250"/>
            <a:ext cx="5095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5f9ddff15449d"/>
          <a:stretch xmlns:a="http://schemas.openxmlformats.org/drawingml/2006/main"/>
        </p:blipFill>
        <p:spPr>
          <a:xfrm xmlns:a="http://schemas.openxmlformats.org/drawingml/2006/main">
            <a:off x="6038850" y="2825948"/>
            <a:ext cx="4524375" cy="1244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1E234-175A-49A1-8FB8-B82C2D1F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Q(t) route avoids unstable boundary derivatives when computing the current from a learned field.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3187EC-86DD-41EF-8D04-DBD9A9F5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DDCE72-66EB-4044-AD03-6EA1E1F2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Current measurement and simulation-side construction</a:t>
            </a:r>
          </a:p>
        </p:txBody>
      </p:sp>
    </p:spTree>
    <p:extLst>
      <p:ext uri="{BB962C8B-B14F-4D97-AF65-F5344CB8AC3E}">
        <p14:creationId xmlns:p14="http://schemas.microsoft.com/office/powerpoint/2010/main" val="68971691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D8B76D-1634-43D7-9632-0A23B4B5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2F91B-983A-4EE1-93EB-54B0A82B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BAYESIAN INVERSE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B6D6D-2778-45AB-98E8-8261668D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ADE24-7291-433A-A5E3-F8423286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8B071-804C-4369-93AC-46851BB8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12BED-5955-4E33-8A95-0252F5A7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posterior compares observed current with PINN-predicted current.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EEE83-8DFE-47D9-93F5-5960816D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current diagnostic uses a transparent 41 by 41 grid posterior.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3FAB9-22D4-45E5-852A-CAB7726E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03346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3B71A-F23B-42B8-A574-C6ABCF8B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033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980d234184392"/>
          <a:stretch xmlns:a="http://schemas.openxmlformats.org/drawingml/2006/main"/>
        </p:blipFill>
        <p:spPr>
          <a:xfrm xmlns:a="http://schemas.openxmlformats.org/drawingml/2006/main">
            <a:off x="2435257" y="2800350"/>
            <a:ext cx="7207185" cy="1638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5079E-2E76-4F4C-B19F-EC59A3C2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53050"/>
            <a:ext cx="666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Uniform prior over the grid; posterior mass is normalized after evaluating all candidates.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139B6-B57B-48DD-8642-58E9C86E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9AD53F-59EB-46AD-842E-5948CF2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Likelihood and posterior</a:t>
            </a:r>
          </a:p>
        </p:txBody>
      </p:sp>
    </p:spTree>
    <p:extLst>
      <p:ext uri="{BB962C8B-B14F-4D97-AF65-F5344CB8AC3E}">
        <p14:creationId xmlns:p14="http://schemas.microsoft.com/office/powerpoint/2010/main" val="118049395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AA39FE-5048-4CFA-922B-957F0C29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ED00-B4CC-4D2B-8AD8-53C32B47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A97F1-2981-4EC2-ACB4-6B237D8F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88342-4264-46CD-98D8-56FD2588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B6D5E-1046-4668-8DBF-041D4732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2A094-1A3B-4F4D-B6F7-72FABED1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 the MAP point, the PINN matches the observed current at the noise level.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cdddd9bab42c1"/>
          <a:stretch xmlns:a="http://schemas.openxmlformats.org/drawingml/2006/main"/>
        </p:blipFill>
        <p:spPr>
          <a:xfrm xmlns:a="http://schemas.openxmlformats.org/drawingml/2006/main">
            <a:off x="1304671" y="2133600"/>
            <a:ext cx="6725157" cy="38576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583DE-8CAD-4BC1-B077-09FD4480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A4AD4-5621-414B-B234-01689282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861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= 1.25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 = 1.2125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08320-0E8E-469A-BD4E-30D4C64F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719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8544D-D63E-47E6-BE67-66FFEA68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79 current intervals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2% relative noise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ABCB79-2C44-4C66-8672-653E23D6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EF381-9F85-4EF4-8D44-280ACD9A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Fit on the likelihood signal</a:t>
            </a:r>
          </a:p>
        </p:txBody>
      </p:sp>
    </p:spTree>
    <p:extLst>
      <p:ext uri="{BB962C8B-B14F-4D97-AF65-F5344CB8AC3E}">
        <p14:creationId xmlns:p14="http://schemas.microsoft.com/office/powerpoint/2010/main" val="19681234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8C423E-91F4-4196-A035-BD582A3B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C97AB-2E13-4A67-BC0F-92A0142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503C2-DDF1-431B-862D-1BE1AF79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2782F-F175-47D0-88DF-B214A9FC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D5229-9A84-4DDE-9915-D0E207F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41C8D0-94C6-4FBA-ACB9-6C5499AA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posterior covers the true parameters and shows coupled uncertainty.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a56f8ec5146c3"/>
          <a:stretch xmlns:a="http://schemas.openxmlformats.org/drawingml/2006/main"/>
        </p:blipFill>
        <p:spPr>
          <a:xfrm xmlns:a="http://schemas.openxmlformats.org/drawingml/2006/main">
            <a:off x="1209467" y="2038350"/>
            <a:ext cx="5010567" cy="4000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23E8E-7976-4102-B84B-A81469DF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669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true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3E425-B9A2-4ED5-83AD-BF1D0442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289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= 1.25, 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7C775-14BF-4002-9EAB-CE3B4F1F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posterior 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60968-5BBD-411C-8CE7-B133743B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= 1.2353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 = 1.2368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D8AC26-4C0F-4F55-8C6F-931F8012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625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95% marginal intervals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F44CFC-420D-4978-9CB6-BCD0EAC0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4350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Dp: [1.0625, 1.4000]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Dn: [1.0625, 1.4375]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1C4D9-8D27-4AD3-A45A-C054366F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8674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true values are inside the reported intervals.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2E019-93C0-4669-B246-5FBC407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5CBE0-DB8B-411A-A688-F552B00C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Posterior over diffusion parameters</a:t>
            </a:r>
          </a:p>
        </p:txBody>
      </p:sp>
    </p:spTree>
    <p:extLst>
      <p:ext uri="{BB962C8B-B14F-4D97-AF65-F5344CB8AC3E}">
        <p14:creationId xmlns:p14="http://schemas.microsoft.com/office/powerpoint/2010/main" val="6831227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B782EA-8425-4252-9FB4-B7AD8AB4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2A254-104B-4B8B-921E-B44ECD4F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54DD4-601B-4DF3-8F2E-547B8D46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5BBB3-294B-4B0A-A684-B0292CCC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49FC2-0651-4049-A968-B23DB231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E525C-AA2B-4338-A586-C5CF23E3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This is a controlled proof of concept for current-based PINN inverse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366EC-0378-4AB9-BF1C-DB29965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146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2F2E4-B382-4193-9264-92A695B7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619375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observation is experimentally meaningful current, not hidden fields.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3460D-07EF-4AB1-B610-C91242E6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051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E9D00-B800-422F-8F83-74FF2A42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209925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PINN acts as a reusable forward model, not as the data generator.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AD748-3E3B-44AB-9B6A-9663B59D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8957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E22E0-007C-4027-B6ED-09CE46EE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00475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output is a posterior over Dp and Dn, so uncertainty is explicit.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79D1F-5551-4C83-B252-344759CA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0673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634FF3-D621-4C37-AF87-8C3DE981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29250"/>
            <a:ext cx="809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Test more true parameter pairs, vary noise and time sampling, then replace the grid posterior by MCMC when the parameter space grows.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5949A-A16E-4C04-A692-EEB0EC8A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3D51A-68CC-4793-A962-9E010470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0549967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5C6BBD-AA07-4461-9EEB-7C8F9841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24CC3-5469-44C6-BC36-723643EC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972CD-FCE6-4615-A980-EBA8B6CA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F52BB-8DE9-4014-9D0C-6BA94523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990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Any questions?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B689C-7F23-4A0F-8881-3AB45ABB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Current-based inverse inference for a 1D PNP system using a reusable PINN forward surrogate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434747-77A5-4744-8D70-245042AC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Jack Jia | June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8C2E3-E336-4B8A-BCB2-96AB7A57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190780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2026-06-02T12:54:01.5700000Z</dcterms:created>
  <dcterms:modified xsi:type="dcterms:W3CDTF">2026-06-02T12:54:01.5700000Z</dcterms:modified>
</coreProperties>
</file>