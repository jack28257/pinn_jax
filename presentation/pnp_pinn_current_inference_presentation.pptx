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1bf14cc6b04883" /><Relationship Type="http://schemas.openxmlformats.org/officeDocument/2006/relationships/extended-properties" Target="/docProps/app.xml" Id="Rda476284567847c0" /><Relationship Type="http://schemas.openxmlformats.org/officeDocument/2006/relationships/officeDocument" Target="/ppt/presentation.xml" Id="R1db5c676ab0845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ab63bd6176404d"/>
  </p:sldMasterIdLst>
  <p:notesMasterIdLst>
    <p:notesMasterId xmlns:r="http://schemas.openxmlformats.org/officeDocument/2006/relationships" r:id="R50242fe9431b46e2"/>
  </p:notesMasterIdLst>
  <p:sldIdLst>
    <p:sldId xmlns:r="http://schemas.openxmlformats.org/officeDocument/2006/relationships" id="256" r:id="R4e6b61d816dc4634"/>
    <p:sldId xmlns:r="http://schemas.openxmlformats.org/officeDocument/2006/relationships" id="257" r:id="R29b598d7a1c34028"/>
    <p:sldId xmlns:r="http://schemas.openxmlformats.org/officeDocument/2006/relationships" id="258" r:id="R8bfe3e8e76c7405c"/>
    <p:sldId xmlns:r="http://schemas.openxmlformats.org/officeDocument/2006/relationships" id="259" r:id="R4704ee7b6b6b4fea"/>
    <p:sldId xmlns:r="http://schemas.openxmlformats.org/officeDocument/2006/relationships" id="260" r:id="Rf3316d10945f4a51"/>
    <p:sldId xmlns:r="http://schemas.openxmlformats.org/officeDocument/2006/relationships" id="261" r:id="R12f851cfd21f4dff"/>
    <p:sldId xmlns:r="http://schemas.openxmlformats.org/officeDocument/2006/relationships" id="262" r:id="R4335377c96104d02"/>
    <p:sldId xmlns:r="http://schemas.openxmlformats.org/officeDocument/2006/relationships" id="263" r:id="R661317e3f8f84159"/>
    <p:sldId xmlns:r="http://schemas.openxmlformats.org/officeDocument/2006/relationships" id="264" r:id="Ra312cb7f907247fc"/>
    <p:sldId xmlns:r="http://schemas.openxmlformats.org/officeDocument/2006/relationships" id="265" r:id="Rd828a352a0574b12"/>
    <p:sldId xmlns:r="http://schemas.openxmlformats.org/officeDocument/2006/relationships" id="266" r:id="Rca48797eb11842d7"/>
    <p:sldId xmlns:r="http://schemas.openxmlformats.org/officeDocument/2006/relationships" id="267" r:id="Rb9d25a50296845b1"/>
    <p:sldId xmlns:r="http://schemas.openxmlformats.org/officeDocument/2006/relationships" id="268" r:id="Rc4b9947c2fcb4619"/>
    <p:sldId xmlns:r="http://schemas.openxmlformats.org/officeDocument/2006/relationships" id="269" r:id="R6007ab5c53654a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17cdc113ec4caa" /><Relationship Type="http://schemas.openxmlformats.org/officeDocument/2006/relationships/slideMaster" Target="/ppt/slideMasters/slideMaster1.xml" Id="Racab63bd6176404d" /><Relationship Type="http://schemas.openxmlformats.org/officeDocument/2006/relationships/notesMaster" Target="/ppt/notesMasters/notesMaster1.xml" Id="R50242fe9431b46e2" /><Relationship Type="http://schemas.openxmlformats.org/officeDocument/2006/relationships/presProps" Target="/ppt/presProps.xml" Id="R02a36e1875494516" /><Relationship Type="http://schemas.openxmlformats.org/officeDocument/2006/relationships/viewProps" Target="/ppt/viewProps.xml" Id="Rbbfc47791d5d4040" /><Relationship Type="http://schemas.openxmlformats.org/officeDocument/2006/relationships/tableStyles" Target="/ppt/tableStyles.xml" Id="Rad33581d68ab48fe" /><Relationship Type="http://schemas.openxmlformats.org/officeDocument/2006/relationships/slide" Target="/ppt/slides/slide1.xml" Id="R4e6b61d816dc4634" /><Relationship Type="http://schemas.openxmlformats.org/officeDocument/2006/relationships/slide" Target="/ppt/slides/slide2.xml" Id="R29b598d7a1c34028" /><Relationship Type="http://schemas.openxmlformats.org/officeDocument/2006/relationships/slide" Target="/ppt/slides/slide3.xml" Id="R8bfe3e8e76c7405c" /><Relationship Type="http://schemas.openxmlformats.org/officeDocument/2006/relationships/slide" Target="/ppt/slides/slide4.xml" Id="R4704ee7b6b6b4fea" /><Relationship Type="http://schemas.openxmlformats.org/officeDocument/2006/relationships/slide" Target="/ppt/slides/slide5.xml" Id="Rf3316d10945f4a51" /><Relationship Type="http://schemas.openxmlformats.org/officeDocument/2006/relationships/slide" Target="/ppt/slides/slide6.xml" Id="R12f851cfd21f4dff" /><Relationship Type="http://schemas.openxmlformats.org/officeDocument/2006/relationships/slide" Target="/ppt/slides/slide7.xml" Id="R4335377c96104d02" /><Relationship Type="http://schemas.openxmlformats.org/officeDocument/2006/relationships/slide" Target="/ppt/slides/slide8.xml" Id="R661317e3f8f84159" /><Relationship Type="http://schemas.openxmlformats.org/officeDocument/2006/relationships/slide" Target="/ppt/slides/slide9.xml" Id="Ra312cb7f907247fc" /><Relationship Type="http://schemas.openxmlformats.org/officeDocument/2006/relationships/slide" Target="/ppt/slides/slide10.xml" Id="Rd828a352a0574b12" /><Relationship Type="http://schemas.openxmlformats.org/officeDocument/2006/relationships/slide" Target="/ppt/slides/slide11.xml" Id="Rca48797eb11842d7" /><Relationship Type="http://schemas.openxmlformats.org/officeDocument/2006/relationships/slide" Target="/ppt/slides/slide12.xml" Id="Rb9d25a50296845b1" /><Relationship Type="http://schemas.openxmlformats.org/officeDocument/2006/relationships/slide" Target="/ppt/slides/slide13.xml" Id="Rc4b9947c2fcb4619" /><Relationship Type="http://schemas.openxmlformats.org/officeDocument/2006/relationships/slide" Target="/ppt/slides/slide14.xml" Id="R6007ab5c53654a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0afb5ccb2046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4f52bb89f2492b" /><Relationship Type="http://schemas.openxmlformats.org/officeDocument/2006/relationships/notesMaster" Target="/ppt/notesMasters/notesMaster1.xml" Id="R6a3c30af5e6949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744a2d76f642e6" /><Relationship Type="http://schemas.openxmlformats.org/officeDocument/2006/relationships/notesMaster" Target="/ppt/notesMasters/notesMaster1.xml" Id="R4fdb76d487f648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07d9ec425b4110" /><Relationship Type="http://schemas.openxmlformats.org/officeDocument/2006/relationships/notesMaster" Target="/ppt/notesMasters/notesMaster1.xml" Id="R9c2e4031bcb74f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5281cfd4674988" /><Relationship Type="http://schemas.openxmlformats.org/officeDocument/2006/relationships/notesMaster" Target="/ppt/notesMasters/notesMaster1.xml" Id="Rdb826003fb6d41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26cb160e5c4e6e" /><Relationship Type="http://schemas.openxmlformats.org/officeDocument/2006/relationships/notesMaster" Target="/ppt/notesMasters/notesMaster1.xml" Id="R387fe807c60a4e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701574a4404249" /><Relationship Type="http://schemas.openxmlformats.org/officeDocument/2006/relationships/notesMaster" Target="/ppt/notesMasters/notesMaster1.xml" Id="R5242908c318840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422634e9ff4cc4" /><Relationship Type="http://schemas.openxmlformats.org/officeDocument/2006/relationships/notesMaster" Target="/ppt/notesMasters/notesMaster1.xml" Id="R1f8aa83b9fdb4a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5da20eecc6407d" /><Relationship Type="http://schemas.openxmlformats.org/officeDocument/2006/relationships/notesMaster" Target="/ppt/notesMasters/notesMaster1.xml" Id="R6e6b09e9d87d44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51804f21db459d" /><Relationship Type="http://schemas.openxmlformats.org/officeDocument/2006/relationships/notesMaster" Target="/ppt/notesMasters/notesMaster1.xml" Id="R05a0e881159a46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3a433234ab42c2" /><Relationship Type="http://schemas.openxmlformats.org/officeDocument/2006/relationships/notesMaster" Target="/ppt/notesMasters/notesMaster1.xml" Id="Rce7895abb9b845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ef550657e84691" /><Relationship Type="http://schemas.openxmlformats.org/officeDocument/2006/relationships/notesMaster" Target="/ppt/notesMasters/notesMaster1.xml" Id="Rc4114b5f0dc546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666a9c1f374616" /><Relationship Type="http://schemas.openxmlformats.org/officeDocument/2006/relationships/notesMaster" Target="/ppt/notesMasters/notesMaster1.xml" Id="Rf5bbaae9d07949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1d515d9caf4fa6" /><Relationship Type="http://schemas.openxmlformats.org/officeDocument/2006/relationships/notesMaster" Target="/ppt/notesMasters/notesMaster1.xml" Id="Rc7a0fa61b72b4e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4101f79bfb4380" /><Relationship Type="http://schemas.openxmlformats.org/officeDocument/2006/relationships/notesMaster" Target="/ppt/notesMasters/notesMaster1.xml" Id="Rb499e4cb592041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56d76b2ac46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b5a4eb808a4dea" /><Relationship Type="http://schemas.openxmlformats.org/officeDocument/2006/relationships/slideLayout" Target="/ppt/slideLayouts/slideLayout1.xml" Id="Re31904d8ef5843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1904d8ef5843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3a0685f7343fb" /><Relationship Type="http://schemas.openxmlformats.org/officeDocument/2006/relationships/image" Target="/ppt/media/image.png" Id="Rf6fd7ae1559f4350" /><Relationship Type="http://schemas.openxmlformats.org/officeDocument/2006/relationships/notesSlide" Target="/ppt/notesSlides/notesSlide1.xml" Id="R532c4fdf52a241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9c61434c949f1" /><Relationship Type="http://schemas.openxmlformats.org/officeDocument/2006/relationships/image" Target="/ppt/media/image2.png" Id="R7051c5850c724a48" /><Relationship Type="http://schemas.openxmlformats.org/officeDocument/2006/relationships/notesSlide" Target="/ppt/notesSlides/notesSlide2.xml" Id="Rc896ea4f804946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d4454ab8243bf" /><Relationship Type="http://schemas.openxmlformats.org/officeDocument/2006/relationships/notesSlide" Target="/ppt/notesSlides/notesSlide3.xml" Id="R8e6ec74207154b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08787beaa474a" /><Relationship Type="http://schemas.openxmlformats.org/officeDocument/2006/relationships/image" Target="/ppt/media/image3.png" Id="Rb71bd17f2b894329" /><Relationship Type="http://schemas.openxmlformats.org/officeDocument/2006/relationships/notesSlide" Target="/ppt/notesSlides/notesSlide4.xml" Id="Rfe327784287245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309b16c5d4db8" /><Relationship Type="http://schemas.openxmlformats.org/officeDocument/2006/relationships/notesSlide" Target="/ppt/notesSlides/notesSlide5.xml" Id="Rea3adf3deeef44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5caaf746d45cf" /><Relationship Type="http://schemas.openxmlformats.org/officeDocument/2006/relationships/image" Target="/ppt/media/image4.png" Id="R422df9fb6e9249aa" /><Relationship Type="http://schemas.openxmlformats.org/officeDocument/2006/relationships/notesSlide" Target="/ppt/notesSlides/notesSlide6.xml" Id="Rf834ef4166fb42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6df1bb64d406c" /><Relationship Type="http://schemas.openxmlformats.org/officeDocument/2006/relationships/notesSlide" Target="/ppt/notesSlides/notesSlide7.xml" Id="R6b0d9f3699b447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956f153e74798" /><Relationship Type="http://schemas.openxmlformats.org/officeDocument/2006/relationships/notesSlide" Target="/ppt/notesSlides/notesSlide8.xml" Id="R6749dcbb98aa49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e1210d5414b72" /><Relationship Type="http://schemas.openxmlformats.org/officeDocument/2006/relationships/image" Target="/ppt/media/image5.png" Id="R4e9ad9b447784625" /><Relationship Type="http://schemas.openxmlformats.org/officeDocument/2006/relationships/notesSlide" Target="/ppt/notesSlides/notesSlide9.xml" Id="R5d94c07a142245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56cc9fd424e87" /><Relationship Type="http://schemas.openxmlformats.org/officeDocument/2006/relationships/image" Target="/ppt/media/image6.png" Id="Rbd9ab5ed5ecd448d" /><Relationship Type="http://schemas.openxmlformats.org/officeDocument/2006/relationships/notesSlide" Target="/ppt/notesSlides/notesSlide10.xml" Id="Rd425d6ae1cfe4f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e3374ac894bcb" /><Relationship Type="http://schemas.openxmlformats.org/officeDocument/2006/relationships/image" Target="/ppt/media/image7.png" Id="R9307b27a0d5740b5" /><Relationship Type="http://schemas.openxmlformats.org/officeDocument/2006/relationships/notesSlide" Target="/ppt/notesSlides/notesSlide11.xml" Id="R92ea038f7e8345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151db7bb14929" /><Relationship Type="http://schemas.openxmlformats.org/officeDocument/2006/relationships/image" Target="/ppt/media/image8.png" Id="R79a9b982878b4809" /><Relationship Type="http://schemas.openxmlformats.org/officeDocument/2006/relationships/notesSlide" Target="/ppt/notesSlides/notesSlide12.xml" Id="Rba3eb0ea5fbb46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76c8e92144d86" /><Relationship Type="http://schemas.openxmlformats.org/officeDocument/2006/relationships/notesSlide" Target="/ppt/notesSlides/notesSlide13.xml" Id="Re07a2ee97db145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cd740dcd940f9" /><Relationship Type="http://schemas.openxmlformats.org/officeDocument/2006/relationships/notesSlide" Target="/ppt/notesSlides/notesSlide14.xml" Id="R091ae887224840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D54500-79B5-4365-83B4-B5821F96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97213-76D0-4ABF-9EC9-9D9291C1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CD9B3-98A2-47CA-8F4C-7391DFB9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Academic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D2A87-91F2-4AA6-97E1-8EAF8406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Current-Based Inverse Inference for a 1D Poisson-Nernst-Planck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5157B-6B2E-4C1D-997A-8DCE5941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A physics-informed neural-network surrogate for diffusion-parameter inference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d7ae1559f4350"/>
          <a:stretch xmlns:a="http://schemas.openxmlformats.org/drawingml/2006/main"/>
        </p:blipFill>
        <p:spPr>
          <a:xfrm xmlns:a="http://schemas.openxmlformats.org/drawingml/2006/main">
            <a:off x="2201647" y="3714750"/>
            <a:ext cx="7617255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D2214-44ED-490B-9DFE-9AE2BC22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Jack Jia | June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10AC4-C042-4CC1-9F94-4EBC99B4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293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1D PNP PINN current-based inverse problem</a:t>
            </a:r>
          </a:p>
        </p:txBody>
      </p:sp>
    </p:spTree>
    <p:extLst>
      <p:ext uri="{BB962C8B-B14F-4D97-AF65-F5344CB8AC3E}">
        <p14:creationId xmlns:p14="http://schemas.microsoft.com/office/powerpoint/2010/main" val="7695743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A0516-2CB5-4F37-95EC-975CF73B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E137F-6B4C-4974-BC46-0D4D1A24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F6A13-07E7-4A6F-A8DE-2A04A700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4263D-EB5F-49D6-8E92-3DFE70C7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56816-3694-490D-A8FE-40F49743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BAADD-0903-4ED2-A7D1-86EFC97B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central question is whether current identifies diffusion parameters.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3343A-1C88-484F-86B1-BC27BB05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The project connects a measurable signal to a Bayesian posterior over Dp and Dn.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1c5850c724a48"/>
          <a:stretch xmlns:a="http://schemas.openxmlformats.org/drawingml/2006/main"/>
        </p:blipFill>
        <p:spPr>
          <a:xfrm xmlns:a="http://schemas.openxmlformats.org/drawingml/2006/main">
            <a:off x="1966789" y="2724150"/>
            <a:ext cx="8125072" cy="1524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0DBC7-65A8-4998-A29F-F5D8D2F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38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Storyline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98068-8C1C-4BBA-9635-DAC8B0C8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244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measurable current -&gt; forward PNP physics -&gt; PINN surrogate -&gt; posterior 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A8DBC-AB4D-4C66-9ABF-3B6584E3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931B5-A7F5-4BAF-A2A1-9ACADC5E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7736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7736D"/>
                </a:solidFill>
                <a:latin typeface="Aptos"/>
                <a:ea typeface="Aptos"/>
                <a:cs typeface="Aptos"/>
              </a:rPr>
              <a:t>Talk thesis</a:t>
            </a:r>
          </a:p>
        </p:txBody>
      </p:sp>
    </p:spTree>
    <p:extLst>
      <p:ext uri="{BB962C8B-B14F-4D97-AF65-F5344CB8AC3E}">
        <p14:creationId xmlns:p14="http://schemas.microsoft.com/office/powerpoint/2010/main" val="19876407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398FBA-E6EE-4FF2-A16C-5CD63FAD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5BECC-4620-47D2-9A2E-94D0DC4D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B073D-8722-4858-AC75-62A58BDD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F9CE3-FAB0-4AB2-ABCB-B3CEA4E6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F5133-2C28-4314-A576-9D0C42C9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DC5B6-339C-4FD5-9B84-D0329815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inverse problem must start from what the experiment measures.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EFA7E-EC3C-4855-BBF6-6661D41C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The PINN may predict fields, but the likelihood should be built from current.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5F490-0753-410A-AB1E-EAEE3DF5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7080E-58D3-49C3-A4A1-F7B15347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Hidden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DB486-5F01-4281-A7F0-0888E174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cp(x,t), cn(x,t), phi(x,t)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F7E83-F378-40DC-B3F1-12E44320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useful for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24048-7683-4699-BF78-73C5260E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19C48-122B-4DEF-8055-62F74C04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E52CA-15AF-4AFD-B6FC-79492A4D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Measured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97CCB-FAA2-4DBA-B716-6D921F1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electrode current I(t)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76393-48D4-4A4B-BA6A-9404A42C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05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used for inference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C4445-8C5D-4F04-B6CA-804D97E1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81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1C196-5CE9-4CCD-A3CE-0ED34C30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86375"/>
            <a:ext cx="554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Unknowns: Dp and Dn.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3FCD7-F578-4831-9763-DA7F4964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245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17EEC-76EF-4E35-98EB-65BEC696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29275"/>
            <a:ext cx="554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Data: noisy current observations.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A4BFF-C1A7-4E53-9BF5-427B1663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4BA525-1C7A-4278-8AAE-96E654DF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7736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7736D"/>
                </a:solidFill>
                <a:latin typeface="Aptos"/>
                <a:ea typeface="Aptos"/>
                <a:cs typeface="Aptos"/>
              </a:rPr>
              <a:t>Observation model</a:t>
            </a:r>
          </a:p>
        </p:txBody>
      </p:sp>
    </p:spTree>
    <p:extLst>
      <p:ext uri="{BB962C8B-B14F-4D97-AF65-F5344CB8AC3E}">
        <p14:creationId xmlns:p14="http://schemas.microsoft.com/office/powerpoint/2010/main" val="4607942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E5037C-B778-443C-8D78-1F5688B5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45B06-029B-4291-B9AA-5B5C61A2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FORWARD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5C132-C494-4E7D-8FA9-8DBDDDC6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DD043-7BE0-4B92-96C6-9C8FFE4E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14D1C-CFC9-4A7E-807B-EBA9DAA0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9EB1A-4211-4F04-92AD-243ABFD0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controlled benchmark is a blocking-electrode PNP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8651B-25F1-4B6C-BA43-9A51C818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5810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C861B-7DA0-4DC1-B062-7E555A0E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581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bd17f2b894329"/>
          <a:stretch xmlns:a="http://schemas.openxmlformats.org/drawingml/2006/main"/>
        </p:blipFill>
        <p:spPr>
          <a:xfrm xmlns:a="http://schemas.openxmlformats.org/drawingml/2006/main">
            <a:off x="1123950" y="2280179"/>
            <a:ext cx="5334000" cy="192616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9FE55-54CC-4708-9D1D-57371CEA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3124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06D88-F425-4432-9D01-1FE1CB01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38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05A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5A2A"/>
                </a:solidFill>
                <a:latin typeface="Aptos"/>
                <a:ea typeface="Aptos"/>
                <a:cs typeface="Aptos"/>
              </a:rPr>
              <a:t>Parameter 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E579C-8F0F-44F5-BEB6-9BFF1398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146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x in [0,1],  t in [0,0.2]</a:t>
            </a:r>
          </a:p>
          <a:p xmlns:a="http://schemas.openxmlformats.org/drawingml/2006/main">
            <a:pPr algn="l">
              <a:defRPr sz="12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Dp, Dn in [0.5,2.0]</a:t>
            </a:r>
          </a:p>
          <a:p xmlns:a="http://schemas.openxmlformats.org/drawingml/2006/main">
            <a:pPr algn="l">
              <a:defRPr sz="12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true case: Dp = Dn = 1.25</a:t>
            </a:r>
          </a:p>
          <a:p xmlns:a="http://schemas.openxmlformats.org/drawingml/2006/main">
            <a:pPr algn="l">
              <a:defRPr sz="12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phi(0) = -0.5, phi(1) = 0.5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55B63-32D3-4819-8EDE-B69E7A4D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5780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Blocking boundary: ions do not cross the electrode, but charging current can still be measured.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54CC8-32ED-4C11-8447-8A76C614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2A096-96A4-4838-A44D-C50EC51F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7736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7736D"/>
                </a:solidFill>
                <a:latin typeface="Aptos"/>
                <a:ea typeface="Aptos"/>
                <a:cs typeface="Aptos"/>
              </a:rPr>
              <a:t>Physical setup and assumptions</a:t>
            </a:r>
          </a:p>
        </p:txBody>
      </p:sp>
    </p:spTree>
    <p:extLst>
      <p:ext uri="{BB962C8B-B14F-4D97-AF65-F5344CB8AC3E}">
        <p14:creationId xmlns:p14="http://schemas.microsoft.com/office/powerpoint/2010/main" val="335551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2B730-CACA-47FC-AC08-789F5B76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CE8C6-4FD3-455A-BEB7-2F2DF2F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PINN SURROGATE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4EC01-EA01-454B-A3FC-D0EAAC97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06777-DC37-47C6-A826-64A7B8FC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19681-2661-4CB5-B428-C6093B6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4D7BB-0805-4EB3-B032-182D4FAB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PINN learns the forward map, not the inverse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7C052-C7FC-42A7-BB89-0FFE301F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This distinction is the core role of the neural network.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A1BED-5D70-4E80-B207-F4AB238B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70EAA-358B-44CF-9B47-5B3E3EED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146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DB19B-50E7-4FDA-941B-AEC2428D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9567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(x, t, Dp, Dn)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71A4B-5406-4477-BC72-C33306EB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809625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8F948-F237-41D9-914F-77702C6B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147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1466D-FD96-4353-9B33-60BC2733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95575"/>
            <a:ext cx="2381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631F6-498F-498F-8488-32B2B8CC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95575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05085-84A3-4697-BBFD-D71F97EE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813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PINN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57CB0-9858-4B7D-98B6-B0B397F1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43275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8-layer tanh MLP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width 256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JAX / Equinox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D8C31-6733-45AC-A347-C8B3D79E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809625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2DE60-5CFE-4636-9841-83F51C1A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147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6DD00-8A3D-4654-BAAA-9C040A8A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08310-9247-4111-93D5-EA38F36C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03C69-63CE-4252-80FA-B3C361CC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146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8F1199-232B-4A82-B69B-2E00DFBD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956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(cp, cn, phi)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83825-C202-446C-8A33-8E3B86F9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911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AE163-E471-4137-86B2-80DC5796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095875"/>
            <a:ext cx="7877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One trained model can be evaluated at many candidate parameter pairs.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6A0064-31E3-4165-BEEA-863A594F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530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CEBE8-9901-4C3C-A72C-DE215678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457825"/>
            <a:ext cx="7877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inverse problem compares current predicted from this state map.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7E3DEB-210B-47D7-8A9D-A8F81A7A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8CDFC-32EB-4341-BA23-8BC45E89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7736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7736D"/>
                </a:solidFill>
                <a:latin typeface="Aptos"/>
                <a:ea typeface="Aptos"/>
                <a:cs typeface="Aptos"/>
              </a:rPr>
              <a:t>What the neural network represents</a:t>
            </a:r>
          </a:p>
        </p:txBody>
      </p:sp>
    </p:spTree>
    <p:extLst>
      <p:ext uri="{BB962C8B-B14F-4D97-AF65-F5344CB8AC3E}">
        <p14:creationId xmlns:p14="http://schemas.microsoft.com/office/powerpoint/2010/main" val="14288493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46D360-34E0-4976-9B71-E1A804F4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23291-ED93-40D5-B859-FA3334A1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0F05F-5989-49E0-BDA9-0DCB8240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0212A-A20B-4AF7-8CA1-52EFBE72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676EB-2ECF-48F7-B7B5-C3D94A9A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7CD94-2AA5-4630-B007-105EECC5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Training makes the network satisfy the PNP equations over parameter space.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84DEE-E36D-4BCF-91F8-CBAAB42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The reference solver is used later for validation and synthetic observations, not as pointwise training labels.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C521E-1CC0-4A31-89AA-80DD3312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714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27AB9-587E-4473-92A9-06126627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714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87427-E7B9-4AD0-BFF8-ACD3A07C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623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PDE residuals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46BF9-7000-4CC1-AF46-D04E4AA7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2714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C8772-10BB-43D4-8E08-5E64A566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2714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F8C76-906D-4277-ADD2-F1BC5ED3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623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Initial and boundary</a:t>
            </a:r>
          </a:p>
          <a:p xmlns:a="http://schemas.openxmlformats.org/drawingml/2006/main">
            <a:pPr algn="ctr">
              <a:defRPr sz="15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conditions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0F345-A43C-418F-BB26-062EFA5B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2714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5A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9AD76-AC75-487D-B293-3A20AD0A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2714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34EF6-C1FF-4809-B198-DDE55F69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05A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05A2A"/>
                </a:solidFill>
                <a:latin typeface="Aptos"/>
                <a:ea typeface="Aptos"/>
                <a:cs typeface="Aptos"/>
              </a:rPr>
              <a:t>Parameter-domain</a:t>
            </a:r>
          </a:p>
          <a:p xmlns:a="http://schemas.openxmlformats.org/drawingml/2006/main">
            <a:pPr algn="ctr">
              <a:defRPr sz="1500" b="1">
                <a:solidFill>
                  <a:srgbClr val="D05A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05A2A"/>
                </a:solidFill>
                <a:latin typeface="Aptos"/>
                <a:ea typeface="Aptos"/>
                <a:cs typeface="Aptos"/>
              </a:rPr>
              <a:t>sampling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6B3E0-2F94-4348-BE4F-C26B2CB5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38650"/>
            <a:ext cx="771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df9fb6e9249aa"/>
          <a:stretch xmlns:a="http://schemas.openxmlformats.org/drawingml/2006/main"/>
        </p:blipFill>
        <p:spPr>
          <a:xfrm xmlns:a="http://schemas.openxmlformats.org/drawingml/2006/main">
            <a:off x="4265049" y="4572000"/>
            <a:ext cx="3642852" cy="7239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1156F-A178-448D-9906-C5989941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15000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Current completed run: 500000 Adam steps.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7265E-64D2-40C0-9537-159AABF5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BEB25-2F48-4786-B203-FDAE929B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7736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7736D"/>
                </a:solidFill>
                <a:latin typeface="Aptos"/>
                <a:ea typeface="Aptos"/>
                <a:cs typeface="Aptos"/>
              </a:rPr>
              <a:t>Training objective</a:t>
            </a:r>
          </a:p>
        </p:txBody>
      </p:sp>
    </p:spTree>
    <p:extLst>
      <p:ext uri="{BB962C8B-B14F-4D97-AF65-F5344CB8AC3E}">
        <p14:creationId xmlns:p14="http://schemas.microsoft.com/office/powerpoint/2010/main" val="20999084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9062CB-76B2-4408-9323-23FD9781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6BE20-32F2-4001-BBCA-3FE83FE9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AMORTIZATION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BB500-4AA7-4542-BA37-12A526FD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542EB-509A-4045-A573-75E7FC0B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7B86E-9F44-4B69-8E05-A7697281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D3099-4FD7-4F02-8FD6-F3767ED7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57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computational benefit is reuse across many likelihood evaluations.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53ADB-2816-46C1-9FFB-BD70C057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8576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C3F8C-EEF5-46B1-ACB1-B853731A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2619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Benchmark-only 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B4959-7B69-4470-92AA-7C6A2B2A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candidate parameters</a:t>
            </a:r>
          </a:p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-&gt; numerical PDE solve</a:t>
            </a:r>
          </a:p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-&gt; current prediction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E7740-6C38-4662-8E97-B2E8C9F3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571625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A64B9-70F6-4999-8B7A-3CC01D6F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86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8CE4A-785C-40A0-A261-B9E52C02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862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many times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63A13-3F98-4B3E-8F79-DD8F20B5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90800"/>
            <a:ext cx="38576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65D93-0371-461E-90C4-F365EB0A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90800"/>
            <a:ext cx="385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12FED-40AE-4515-BA57-F0C21C1B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71800"/>
            <a:ext cx="2619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PINN-based inference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7A781-81BE-4A3B-84A3-FED033F6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2905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candidate parameters</a:t>
            </a:r>
          </a:p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-&gt; trained PINN evaluation</a:t>
            </a:r>
          </a:p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-&gt; current prediction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C12D2-C97A-431C-830F-2562AD01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Training is expensive once; inference becomes useful when the forward surrogate is reused many times.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A0AC3-86F3-4AF6-8C26-5D022454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B49D9-7BA1-46F3-BC71-6B839950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7736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7736D"/>
                </a:solidFill>
                <a:latin typeface="Aptos"/>
                <a:ea typeface="Aptos"/>
                <a:cs typeface="Aptos"/>
              </a:rPr>
              <a:t>Why a PINN is useful here</a:t>
            </a:r>
          </a:p>
        </p:txBody>
      </p:sp>
    </p:spTree>
    <p:extLst>
      <p:ext uri="{BB962C8B-B14F-4D97-AF65-F5344CB8AC3E}">
        <p14:creationId xmlns:p14="http://schemas.microsoft.com/office/powerpoint/2010/main" val="8768914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AC57CE-E433-4740-BD60-8E2ED184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4715F-BF63-499A-BC8A-B7C02847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SYNTHETIC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5D70D-1D08-412B-B481-2B6B8562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A3478-8FE7-49D3-9ED7-1A28AEA5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56EA8-0397-43EF-B8CA-222C68C7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1488E-0ABF-4609-A506-90CE43B5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current data are generated independently of the PINN.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79818-9785-4683-8544-C63A997C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This keeps the inverse test honest: the surrogate is tested against a separate numerical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7AAEC-31C7-443D-9F87-8A6E1D94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143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5A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2C464-50EA-4024-BEB5-CA69CAA9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E4DD0-7330-4A56-BE66-28DF2D1C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5A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5A2A"/>
                </a:solidFill>
                <a:latin typeface="Aptos"/>
                <a:ea typeface="Aptos"/>
                <a:cs typeface="Aptos"/>
              </a:rPr>
              <a:t>true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CB056-6716-448D-88C9-D9BCA4B3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Dp = 1.25</a:t>
            </a:r>
          </a:p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Dn = 1.25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594EE-E3B8-41D3-B42A-4EDB5341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95700"/>
            <a:ext cx="714375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187F4-470E-4BBA-B9FD-E2A77210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81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5A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05A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C6938-8382-4AA3-9E7C-3E28B05E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4288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40016-988C-4D85-B9C3-ABDBFF1F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7C40F-E0BE-463B-83FD-06BFA7B3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147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reference solver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CB367-C99E-448D-B68B-4CADC9BA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195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finite difference</a:t>
            </a:r>
          </a:p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BDF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08C35-EAFD-45F6-99DB-C3E2DB7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95700"/>
            <a:ext cx="714375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C6384-F518-46EE-B8AA-19920E09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581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D3BCE-6D7C-484D-A9EB-0DB999CD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E232A-012E-47CF-A095-033ED46F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6A85D-E77B-4072-9532-3D92FE1E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observation noise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2E249-1AAD-4E1F-A39C-45AEFCD3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1190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2% Gaussian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EE241B-040F-48FA-8E62-E97D6B0F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95700"/>
            <a:ext cx="400050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DA4BF-9C76-49EB-A08F-4F5B44B1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81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B2A010-3F2E-4A7B-9740-1AD39684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71850"/>
            <a:ext cx="876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79</a:t>
            </a:r>
          </a:p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current</a:t>
            </a:r>
          </a:p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intervals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31D91-87BF-42AB-BB12-C96A73D8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780D93-DA6C-4FE4-AA9A-2278958C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7736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7736D"/>
                </a:solidFill>
                <a:latin typeface="Aptos"/>
                <a:ea typeface="Aptos"/>
                <a:cs typeface="Aptos"/>
              </a:rPr>
              <a:t>Reference solver to synthetic current observations</a:t>
            </a:r>
          </a:p>
        </p:txBody>
      </p:sp>
    </p:spTree>
    <p:extLst>
      <p:ext uri="{BB962C8B-B14F-4D97-AF65-F5344CB8AC3E}">
        <p14:creationId xmlns:p14="http://schemas.microsoft.com/office/powerpoint/2010/main" val="4052118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41D0D5-117A-4A74-A31D-804210F6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252AC-10EA-4237-96CD-4D52B5F6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CURRENT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9050D-FFC8-41B1-8516-5856FF1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24E54-CC5E-44A8-A492-2FDA3A8C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2BC53-9839-486E-AC3B-D574B348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3E424-F127-4781-90AD-8AA74F2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Q(t) is a simulator construction; the observation is current I(t).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54C52-4A1D-43BD-97A2-927EDA8D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352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7B524-C628-4302-8740-ACCCD6A0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352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12A91-56C5-4E75-84AD-CB5A93EC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experiment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74204-DE63-4BD1-9234-78B3C364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external circuit</a:t>
            </a:r>
          </a:p>
          <a:p xmlns:a="http://schemas.openxmlformats.org/drawingml/2006/main">
            <a:pPr algn="l">
              <a:defRPr sz="18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measures I(t)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60F27-2964-4386-AC53-B5223B2D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958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C54F3-2FF7-4C8E-BBA6-E9126CFB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95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ad9b447784625"/>
          <a:stretch xmlns:a="http://schemas.openxmlformats.org/drawingml/2006/main"/>
        </p:blipFill>
        <p:spPr>
          <a:xfrm xmlns:a="http://schemas.openxmlformats.org/drawingml/2006/main">
            <a:off x="6038850" y="2782313"/>
            <a:ext cx="4524375" cy="1331474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FE25C-12CC-4BB6-A790-AA9F10BD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The Q(t) route avoids unstable boundary derivatives when computing the current from a learned field.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3CE3B-CB3F-451F-A41A-33894F48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D314F-B91B-4FFF-898F-9352886D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7736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7736D"/>
                </a:solidFill>
                <a:latin typeface="Aptos"/>
                <a:ea typeface="Aptos"/>
                <a:cs typeface="Aptos"/>
              </a:rPr>
              <a:t>Current measurement and simulation-side construction</a:t>
            </a:r>
          </a:p>
        </p:txBody>
      </p:sp>
    </p:spTree>
    <p:extLst>
      <p:ext uri="{BB962C8B-B14F-4D97-AF65-F5344CB8AC3E}">
        <p14:creationId xmlns:p14="http://schemas.microsoft.com/office/powerpoint/2010/main" val="6771924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FC8FB8-AD7D-4F8F-B79C-B51A288D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7C350-3764-4C6B-8983-79B735DD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BAYESIAN INVERSE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BABD9-F6BC-41D1-BB3F-32D897F5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4AE4A-AB4C-44F3-A4F0-44EB3EA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D6D6C-483D-4274-81EF-966BDE5D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AE2E7-BE80-42C4-99FE-C7AE39B6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posterior compares observed current with PINN-predicted current.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96E8F-E4FE-437C-83E7-14191E9F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The current diagnostic uses a transparent 41 by 41 grid posterior.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79EA8-8E8A-4763-B811-124689F1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10334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5A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4A516-1201-4663-9EE1-4CDCEE34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10334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ab5ed5ecd448d"/>
          <a:stretch xmlns:a="http://schemas.openxmlformats.org/drawingml/2006/main"/>
        </p:blipFill>
        <p:spPr>
          <a:xfrm xmlns:a="http://schemas.openxmlformats.org/drawingml/2006/main">
            <a:off x="2836718" y="2800350"/>
            <a:ext cx="6404264" cy="1638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3DBE2-11B2-4217-ABCA-EDB5C250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53050"/>
            <a:ext cx="666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Uniform prior over the grid; posterior mass is normalized after evaluating all candidates.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DC90D-DF5F-4AE4-ACFB-3098CB22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C5E82-ECA4-4661-9C41-A8EA02FB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7736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7736D"/>
                </a:solidFill>
                <a:latin typeface="Aptos"/>
                <a:ea typeface="Aptos"/>
                <a:cs typeface="Aptos"/>
              </a:rPr>
              <a:t>Likelihood and posterior</a:t>
            </a:r>
          </a:p>
        </p:txBody>
      </p:sp>
    </p:spTree>
    <p:extLst>
      <p:ext uri="{BB962C8B-B14F-4D97-AF65-F5344CB8AC3E}">
        <p14:creationId xmlns:p14="http://schemas.microsoft.com/office/powerpoint/2010/main" val="4491295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CEB951-C71B-4215-A26B-700F345E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EDCEC-FBC0-4DED-8E8B-86D51861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CURRENT 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BCEAC-97C0-4A3E-A9D0-FD744FED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2E4D7-1C11-4777-94EB-3F9EB04D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7F0C2-2D20-46C0-9F97-4C5E7A09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CF4D9-6E42-4CEF-A773-826C0DFC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At the MAP point, the PINN matches the observed current at the noise level.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7b27a0d5740b5"/>
          <a:stretch xmlns:a="http://schemas.openxmlformats.org/drawingml/2006/main"/>
        </p:blipFill>
        <p:spPr>
          <a:xfrm xmlns:a="http://schemas.openxmlformats.org/drawingml/2006/main">
            <a:off x="1495993" y="2209800"/>
            <a:ext cx="6342513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8E76D-439B-40D1-B1F4-F4D3B643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AC76F-BB79-4EBB-96B2-0445DE96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861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Dp = 1.25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Dn = 1.2125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B7359-C922-4ACC-A0B1-B7C41F1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71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5A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05A2A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495FA-BDFE-4702-BC1B-E98B0CC0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79 current intervals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2% relative noise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EC5ED-E133-4A54-9742-AA524ADA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18C6C-4960-48CB-BAB4-C4BDE7F2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7736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7736D"/>
                </a:solidFill>
                <a:latin typeface="Aptos"/>
                <a:ea typeface="Aptos"/>
                <a:cs typeface="Aptos"/>
              </a:rPr>
              <a:t>Fit on the likelihood signal</a:t>
            </a:r>
          </a:p>
        </p:txBody>
      </p:sp>
    </p:spTree>
    <p:extLst>
      <p:ext uri="{BB962C8B-B14F-4D97-AF65-F5344CB8AC3E}">
        <p14:creationId xmlns:p14="http://schemas.microsoft.com/office/powerpoint/2010/main" val="10347461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82FE21-E036-4B46-BC47-1D41E58B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618B4-1C02-4B4F-83BA-49A8D81B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POSTERIOR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57B17-B1A8-4C00-95D3-8544B55D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EA179-4DCB-4F1B-AD9D-F117856E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59694-FE74-4D1C-B1D3-02023737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39171-0D5A-44ED-9BB4-4BD2FB85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posterior covers the true parameters and shows coupled uncertainty.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9b982878b4809"/>
          <a:stretch xmlns:a="http://schemas.openxmlformats.org/drawingml/2006/main"/>
        </p:blipFill>
        <p:spPr>
          <a:xfrm xmlns:a="http://schemas.openxmlformats.org/drawingml/2006/main">
            <a:off x="1361515" y="2038350"/>
            <a:ext cx="4706471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55DA1-34EF-40C8-98CD-9E1E806C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669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5A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05A2A"/>
                </a:solidFill>
                <a:latin typeface="Aptos"/>
                <a:ea typeface="Aptos"/>
                <a:cs typeface="Aptos"/>
              </a:rPr>
              <a:t>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276B0-38AF-4B5C-9CC2-12C5E3D4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289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Dp = 1.25, Dn = 1.25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444BE-FBA3-4F51-8CC6-1E100148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posterior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14A9E-38BB-4479-966F-CCB65B26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Dp = 1.2353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Dn = 1.2368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3468E-4EE5-41D0-A483-CE6ED88F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625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95% marginal intervals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4B090-B511-492E-98E7-FCE3DA3F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435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Dp: [1.0625, 1.4000]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Dn: [1.0625, 1.4375]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F28C7-1673-44D1-B646-D0A5449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8674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The true values are inside the reported intervals.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96F4D-9F56-413D-BEF0-F3A449D9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20473-2510-4895-A16B-2DE18AA7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7736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7736D"/>
                </a:solidFill>
                <a:latin typeface="Aptos"/>
                <a:ea typeface="Aptos"/>
                <a:cs typeface="Aptos"/>
              </a:rPr>
              <a:t>Posterior over diffusion parameters</a:t>
            </a:r>
          </a:p>
        </p:txBody>
      </p:sp>
    </p:spTree>
    <p:extLst>
      <p:ext uri="{BB962C8B-B14F-4D97-AF65-F5344CB8AC3E}">
        <p14:creationId xmlns:p14="http://schemas.microsoft.com/office/powerpoint/2010/main" val="103308267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ED832E-9ADC-42CA-AC13-017F83ED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C3A13-EBB6-45AB-908C-9E7C788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C9ECC-26D8-4C87-BF8F-91E45C42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02087-FCCC-4ECE-87E8-B45B8CBC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BE090-7FDC-4161-A227-987BDAC0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CB2CD-0C6D-491F-A9BA-83970D3E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This is a controlled proof of concept for current-based PINN inverse inference.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FF468-93DC-4D82-AB72-1977DCA8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14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83337-7D61-4BEA-9BCB-3B69CA32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619375"/>
            <a:ext cx="859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observation is experimentally meaningful current, not hidden fields.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9ED0A-3F41-4B63-BDED-530B3C66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051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D7CEA-1019-4E37-A67A-4C1172AC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209925"/>
            <a:ext cx="859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PINN acts as a reusable forward model, not as the data generator.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9CB10-A5DC-41FF-BFFC-688DB74F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957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8C4A2-125F-4B2C-96EC-9F86C731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800475"/>
            <a:ext cx="859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output is a posterior over Dp and Dn, so uncertainty is explicit.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B8281-DEAB-413E-88CC-D83A15F9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67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7D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F7D55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636C5-B15E-4B7D-A8BB-EDEB0E7D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2925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Test more true parameter pairs, vary noise and time sampling, then replace the grid posterior by MCMC when the parameter space grows.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74F7F-8DEB-40B3-A3D1-D9310C6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6C7D4-20A5-40CE-8152-9F5AEF22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7736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7736D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6323002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183B36-E1E2-4979-A721-E3AA1DA0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FDFA1-D36C-447C-B850-5A14A7BC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F3720-C1F0-4151-A381-5E5BC2D7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B25E8-1B4C-4FEE-AE37-72482DD0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Any questions?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05ED4-AD83-4DB0-9242-ABB52150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Current-based inverse inference for a 1D PNP system using a reusable PINN forward surrogate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2AE65-D89F-4A76-96C1-88B7C94B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Jack Jia | June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09AB2-9D48-4F83-9D10-6C591A5B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5655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2026-06-02T12:14:26.9110000Z</dcterms:created>
  <dcterms:modified xsi:type="dcterms:W3CDTF">2026-06-02T12:14:26.9110000Z</dcterms:modified>
</coreProperties>
</file>