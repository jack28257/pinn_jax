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57d22a0a4c46d9" /><Relationship Type="http://schemas.openxmlformats.org/officeDocument/2006/relationships/extended-properties" Target="/docProps/app.xml" Id="R23446d6b56604ed8" /><Relationship Type="http://schemas.openxmlformats.org/officeDocument/2006/relationships/officeDocument" Target="/ppt/presentation.xml" Id="Rb7b8ed791c164e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d7ab9279e34f2a"/>
  </p:sldMasterIdLst>
  <p:notesMasterIdLst>
    <p:notesMasterId xmlns:r="http://schemas.openxmlformats.org/officeDocument/2006/relationships" r:id="R17484d8ae0ab4518"/>
  </p:notesMasterIdLst>
  <p:sldIdLst>
    <p:sldId xmlns:r="http://schemas.openxmlformats.org/officeDocument/2006/relationships" id="256" r:id="R42431e2e7e684247"/>
    <p:sldId xmlns:r="http://schemas.openxmlformats.org/officeDocument/2006/relationships" id="257" r:id="R0adfa8f1164543ad"/>
    <p:sldId xmlns:r="http://schemas.openxmlformats.org/officeDocument/2006/relationships" id="258" r:id="R86bb26f6092347aa"/>
    <p:sldId xmlns:r="http://schemas.openxmlformats.org/officeDocument/2006/relationships" id="259" r:id="Re61dc3ec90b54fc1"/>
    <p:sldId xmlns:r="http://schemas.openxmlformats.org/officeDocument/2006/relationships" id="260" r:id="R3baaeee975994dd8"/>
    <p:sldId xmlns:r="http://schemas.openxmlformats.org/officeDocument/2006/relationships" id="261" r:id="Rcfa5a2bf35db4056"/>
    <p:sldId xmlns:r="http://schemas.openxmlformats.org/officeDocument/2006/relationships" id="262" r:id="R61b510462c664eef"/>
    <p:sldId xmlns:r="http://schemas.openxmlformats.org/officeDocument/2006/relationships" id="263" r:id="Rd26406ce51604d6d"/>
    <p:sldId xmlns:r="http://schemas.openxmlformats.org/officeDocument/2006/relationships" id="264" r:id="R42d3089b51914096"/>
    <p:sldId xmlns:r="http://schemas.openxmlformats.org/officeDocument/2006/relationships" id="265" r:id="R17ac7f4c212b4c42"/>
    <p:sldId xmlns:r="http://schemas.openxmlformats.org/officeDocument/2006/relationships" id="266" r:id="Rfe824b9a57944470"/>
    <p:sldId xmlns:r="http://schemas.openxmlformats.org/officeDocument/2006/relationships" id="267" r:id="R83ac0038ca104df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dacb10343e4a5f" /><Relationship Type="http://schemas.openxmlformats.org/officeDocument/2006/relationships/slideMaster" Target="/ppt/slideMasters/slideMaster1.xml" Id="Rd0d7ab9279e34f2a" /><Relationship Type="http://schemas.openxmlformats.org/officeDocument/2006/relationships/notesMaster" Target="/ppt/notesMasters/notesMaster1.xml" Id="R17484d8ae0ab4518" /><Relationship Type="http://schemas.openxmlformats.org/officeDocument/2006/relationships/presProps" Target="/ppt/presProps.xml" Id="R95fdd00afe9f4b72" /><Relationship Type="http://schemas.openxmlformats.org/officeDocument/2006/relationships/viewProps" Target="/ppt/viewProps.xml" Id="Rdffdb7f4bad54007" /><Relationship Type="http://schemas.openxmlformats.org/officeDocument/2006/relationships/tableStyles" Target="/ppt/tableStyles.xml" Id="R0e5162fdbfda4063" /><Relationship Type="http://schemas.openxmlformats.org/officeDocument/2006/relationships/slide" Target="/ppt/slides/slide1.xml" Id="R42431e2e7e684247" /><Relationship Type="http://schemas.openxmlformats.org/officeDocument/2006/relationships/slide" Target="/ppt/slides/slide2.xml" Id="R0adfa8f1164543ad" /><Relationship Type="http://schemas.openxmlformats.org/officeDocument/2006/relationships/slide" Target="/ppt/slides/slide3.xml" Id="R86bb26f6092347aa" /><Relationship Type="http://schemas.openxmlformats.org/officeDocument/2006/relationships/slide" Target="/ppt/slides/slide4.xml" Id="Re61dc3ec90b54fc1" /><Relationship Type="http://schemas.openxmlformats.org/officeDocument/2006/relationships/slide" Target="/ppt/slides/slide5.xml" Id="R3baaeee975994dd8" /><Relationship Type="http://schemas.openxmlformats.org/officeDocument/2006/relationships/slide" Target="/ppt/slides/slide6.xml" Id="Rcfa5a2bf35db4056" /><Relationship Type="http://schemas.openxmlformats.org/officeDocument/2006/relationships/slide" Target="/ppt/slides/slide7.xml" Id="R61b510462c664eef" /><Relationship Type="http://schemas.openxmlformats.org/officeDocument/2006/relationships/slide" Target="/ppt/slides/slide8.xml" Id="Rd26406ce51604d6d" /><Relationship Type="http://schemas.openxmlformats.org/officeDocument/2006/relationships/slide" Target="/ppt/slides/slide9.xml" Id="R42d3089b51914096" /><Relationship Type="http://schemas.openxmlformats.org/officeDocument/2006/relationships/slide" Target="/ppt/slides/slide10.xml" Id="R17ac7f4c212b4c42" /><Relationship Type="http://schemas.openxmlformats.org/officeDocument/2006/relationships/slide" Target="/ppt/slides/slide11.xml" Id="Rfe824b9a57944470" /><Relationship Type="http://schemas.openxmlformats.org/officeDocument/2006/relationships/slide" Target="/ppt/slides/slide12.xml" Id="R83ac0038ca104d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7b48cbddfa44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e0e241cf3a4896" /><Relationship Type="http://schemas.openxmlformats.org/officeDocument/2006/relationships/notesMaster" Target="/ppt/notesMasters/notesMaster1.xml" Id="R9abf4aba3f3047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5b1bd899fc4a27" /><Relationship Type="http://schemas.openxmlformats.org/officeDocument/2006/relationships/notesMaster" Target="/ppt/notesMasters/notesMaster1.xml" Id="R6b737d79846e44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25ef8d0b7b4109" /><Relationship Type="http://schemas.openxmlformats.org/officeDocument/2006/relationships/notesMaster" Target="/ppt/notesMasters/notesMaster1.xml" Id="R3e692a479a6440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c1f01db2ed462b" /><Relationship Type="http://schemas.openxmlformats.org/officeDocument/2006/relationships/notesMaster" Target="/ppt/notesMasters/notesMaster1.xml" Id="R7f139c9aaa8f45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b6b0e934174fc1" /><Relationship Type="http://schemas.openxmlformats.org/officeDocument/2006/relationships/notesMaster" Target="/ppt/notesMasters/notesMaster1.xml" Id="R4534c224048840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9d105412974723" /><Relationship Type="http://schemas.openxmlformats.org/officeDocument/2006/relationships/notesMaster" Target="/ppt/notesMasters/notesMaster1.xml" Id="R62d248781b5e45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113042dab049ea" /><Relationship Type="http://schemas.openxmlformats.org/officeDocument/2006/relationships/notesMaster" Target="/ppt/notesMasters/notesMaster1.xml" Id="Rdaff0d64e1c54a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128205433a424e" /><Relationship Type="http://schemas.openxmlformats.org/officeDocument/2006/relationships/notesMaster" Target="/ppt/notesMasters/notesMaster1.xml" Id="R4a9b1edcaf0446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f6f9898d0e46cf" /><Relationship Type="http://schemas.openxmlformats.org/officeDocument/2006/relationships/notesMaster" Target="/ppt/notesMasters/notesMaster1.xml" Id="Ra4fe7e8725a846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805174325d4232" /><Relationship Type="http://schemas.openxmlformats.org/officeDocument/2006/relationships/notesMaster" Target="/ppt/notesMasters/notesMaster1.xml" Id="R6b7667b3784747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5a956683be24dc8" /><Relationship Type="http://schemas.openxmlformats.org/officeDocument/2006/relationships/notesMaster" Target="/ppt/notesMasters/notesMaster1.xml" Id="R6bcd7e3625284f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598a39ee79a485b" /><Relationship Type="http://schemas.openxmlformats.org/officeDocument/2006/relationships/notesMaster" Target="/ppt/notesMasters/notesMaster1.xml" Id="R5e6b2235cdc143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87437980943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55a212e51b4365" /><Relationship Type="http://schemas.openxmlformats.org/officeDocument/2006/relationships/slideLayout" Target="/ppt/slideLayouts/slideLayout1.xml" Id="R5989de4e657d43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89de4e657d43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48cf9a4aa478c" /><Relationship Type="http://schemas.openxmlformats.org/officeDocument/2006/relationships/notesSlide" Target="/ppt/notesSlides/notesSlide1.xml" Id="R0ae8ea032e314f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f8cbbd3ed405c" /><Relationship Type="http://schemas.openxmlformats.org/officeDocument/2006/relationships/notesSlide" Target="/ppt/notesSlides/notesSlide2.xml" Id="Rb09f363123424e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2a0850f8b4c1e" /><Relationship Type="http://schemas.openxmlformats.org/officeDocument/2006/relationships/notesSlide" Target="/ppt/notesSlides/notesSlide3.xml" Id="R8bf56282538a40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6aa043ca2420e" /><Relationship Type="http://schemas.openxmlformats.org/officeDocument/2006/relationships/notesSlide" Target="/ppt/notesSlides/notesSlide4.xml" Id="R00d7b9d96af146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b9c27c83948a3" /><Relationship Type="http://schemas.openxmlformats.org/officeDocument/2006/relationships/notesSlide" Target="/ppt/notesSlides/notesSlide5.xml" Id="R406656a991064e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8fe68673a438e" /><Relationship Type="http://schemas.openxmlformats.org/officeDocument/2006/relationships/notesSlide" Target="/ppt/notesSlides/notesSlide6.xml" Id="R96a7db085cd54a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0a72386ba04265" /><Relationship Type="http://schemas.openxmlformats.org/officeDocument/2006/relationships/notesSlide" Target="/ppt/notesSlides/notesSlide7.xml" Id="R230d556fb83742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6bc54c4ca4fa1" /><Relationship Type="http://schemas.openxmlformats.org/officeDocument/2006/relationships/notesSlide" Target="/ppt/notesSlides/notesSlide8.xml" Id="R1b924ce8ec774d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aec562e544d2c" /><Relationship Type="http://schemas.openxmlformats.org/officeDocument/2006/relationships/notesSlide" Target="/ppt/notesSlides/notesSlide9.xml" Id="R277ed0a446954f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c15ca72b54ca0" /><Relationship Type="http://schemas.openxmlformats.org/officeDocument/2006/relationships/image" Target="/ppt/media/image.png" Id="R25a205b224df4e68" /><Relationship Type="http://schemas.openxmlformats.org/officeDocument/2006/relationships/notesSlide" Target="/ppt/notesSlides/notesSlide10.xml" Id="R89ee8bc0a93e40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355d326be439a" /><Relationship Type="http://schemas.openxmlformats.org/officeDocument/2006/relationships/image" Target="/ppt/media/image2.png" Id="R80593b6fbeb74885" /><Relationship Type="http://schemas.openxmlformats.org/officeDocument/2006/relationships/notesSlide" Target="/ppt/notesSlides/notesSlide11.xml" Id="R0cacaa39d6c94c7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dfe429d4846c1" /><Relationship Type="http://schemas.openxmlformats.org/officeDocument/2006/relationships/notesSlide" Target="/ppt/notesSlides/notesSlide12.xml" Id="R8f11ed4eb8a9469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E8C7A4-85D5-451D-A7E7-A6A923E8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42E24-671E-42BF-B2C8-2143A0FA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Current-based inverse inference for a 1D PNP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7BDC4-8128-4BA4-8344-9519DA4A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82A13-191C-4449-928B-84C87ECD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09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Inferring diffusion parameters from electrode current using a PINN surrogate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29C847-A0E2-490D-B882-81A058EA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1D Poisson-Nernst-Planck benchmark | synthetic current observations | posterior over Dp and Dn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87EE0-7BBE-4D34-A7A8-094D2569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2333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B9CA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F8419-999D-45D9-A5E6-B7DE801E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481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PNP physics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21C9B1-8B7A-49A0-8EBC-41C492AC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148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state evolves for given Dp, Dn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0DD93-EA3D-4A15-A61E-B0181A6E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73342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8B3FE-C40D-413C-BABE-11070DB2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624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E40C0E-69FC-4F43-B0B5-2D749F05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95750"/>
            <a:ext cx="266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7"/>
          </a:solidFill>
          <a:ln xmlns:a="http://schemas.openxmlformats.org/drawingml/2006/main" w="9525">
            <a:solidFill>
              <a:srgbClr val="B7D7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EE8240-E14E-4981-B40E-29EC7889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248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PINN surrogate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3CA0D-6FE7-4821-91A4-B2EBE43C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14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6666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666666"/>
                </a:solidFill>
                <a:latin typeface="Aptos Mono"/>
                <a:ea typeface="Aptos Mono"/>
                <a:cs typeface="Aptos Mono"/>
              </a:rPr>
              <a:t>(x,t,Dp,Dn) -&gt; (cp,cn,phi)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3AEA98-C2BA-4467-97C6-68C7A45E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67225"/>
            <a:ext cx="73342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F461EC-625C-4740-B945-454D2823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3624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C02DDB-B922-468F-BDCC-92401433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095750"/>
            <a:ext cx="2619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E7C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50F88-A8C2-4E09-BC59-DC04946F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24815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5A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45A2A"/>
                </a:solidFill>
                <a:latin typeface="Aptos"/>
                <a:ea typeface="Aptos"/>
                <a:cs typeface="Aptos"/>
              </a:rPr>
              <a:t>Posterior inference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7D5EE8-561F-439F-B26A-F53B2D10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5148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6666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666666"/>
                </a:solidFill>
                <a:latin typeface="Aptos Mono"/>
                <a:ea typeface="Aptos Mono"/>
                <a:cs typeface="Aptos Mono"/>
              </a:rPr>
              <a:t>p(Dp,Dn | current)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7B073B-E057-45E6-A425-EF27613F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0DD3C2-3C33-4CCB-8DB6-2AD1ED36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Jack Jia | June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F95040-F21A-46FF-8EC8-295B84EF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6FCD4A-879B-4FD8-826F-4CD8E3FB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Presentation thesis</a:t>
            </a:r>
          </a:p>
        </p:txBody>
      </p:sp>
    </p:spTree>
    <p:extLst>
      <p:ext uri="{BB962C8B-B14F-4D97-AF65-F5344CB8AC3E}">
        <p14:creationId xmlns:p14="http://schemas.microsoft.com/office/powerpoint/2010/main" val="12247715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09E37A-02C7-4AAD-9623-172B3F43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94A489-8562-49B4-B490-09674995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PROBLEM STATEMENT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BAAF4-205E-42A8-8A44-FB41E254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8EB76-0D42-4D99-8DF8-A139698E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243780-2076-4591-BDFD-D8291A13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C01D9-DF50-46F5-BB47-4EFCA166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096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inverse problem should be posed in terms of a measurable signal.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0E1665-8075-44BB-9FA4-C25E1380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hidden fields are useful for validation, but current is the observation used for inference.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C1A57-EECF-4253-85F4-C83AD6CD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81300"/>
            <a:ext cx="4810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7"/>
          </a:solidFill>
          <a:ln xmlns:a="http://schemas.openxmlformats.org/drawingml/2006/main" w="9525">
            <a:solidFill>
              <a:srgbClr val="B7D7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C46CC7-D4CB-40D8-9449-76A4741C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81300"/>
            <a:ext cx="4810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105EA-D091-4740-A56A-4E983347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44291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current observations  I_obs(t)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        -&gt; posterior  p(Dp, Dn | I_obs)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E0A1A-B88D-4913-9BFA-A9EBA5C5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7655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3EFE23-234F-44BC-8F09-4DC8D93D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0035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Unknown parameters: Dp and Dn.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2C8E21-8508-4D00-8F75-1FA1D758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DBA06F-A590-496B-A90A-02C7D597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1470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Measured quantity: electrode current I(t).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6DAB87-BE88-4E4C-B2F2-1633799D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D98E68-3394-4157-A6CD-00CA00E3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2905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Not assumed observed: cp(x,t), cn(x,t), phi(x,t).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428EB8-84E3-4B05-B14C-E1409D9D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0F39DE-6419-4827-8DB5-6B611646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Motivation: formulate the inverse problem around current</a:t>
            </a:r>
          </a:p>
        </p:txBody>
      </p:sp>
    </p:spTree>
    <p:extLst>
      <p:ext uri="{BB962C8B-B14F-4D97-AF65-F5344CB8AC3E}">
        <p14:creationId xmlns:p14="http://schemas.microsoft.com/office/powerpoint/2010/main" val="16068797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9C8746-C4F1-423B-9882-D666907C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68F56-62BB-4804-BB63-C8D363AE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FORWARD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EE586-F80C-4A4C-A68F-1EC0FEA4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13B53-30EF-42C5-A0A7-7AAEA609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70743-557C-4EB4-9F97-D1B81139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668443-6F5D-4944-8ED9-E94957F2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81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benchmark is a controlled 1D Poisson-Nernst-Planck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1BE3CD-A648-41D8-8052-76AF7B9C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5143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B9CA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0786D5-176C-40EC-8966-75B44AD6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514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EF791-E080-4060-B035-694CE2A1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476250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Jp = -Dp cp_x - Dp z+ cp phi_x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Jn = -Dn cn_x - Dn z- cn phi_x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cp_t + Jp_x = 0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cn_t + Jn_x = 0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-epsilon phi_xx - (z+ cp + z- cn) =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717948-3AE8-4A0D-8479-152B19D0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00250"/>
            <a:ext cx="4000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E7C8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65693-5687-4B1E-95BA-E249D2C2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00250"/>
            <a:ext cx="400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66311-60E7-4780-899E-34ED81CE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71700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5A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5A2A"/>
                </a:solidFill>
                <a:latin typeface="Aptos"/>
                <a:ea typeface="Aptos"/>
                <a:cs typeface="Aptos"/>
              </a:rPr>
              <a:t>Active setup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527650-8C49-46A5-AB1D-E0470622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14600"/>
            <a:ext cx="36576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x in [0,1], t in [0,0.2]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Dp, Dn in [0.5,2.0]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z+ = 1, z- = -1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phi(0) = -0.5, phi(1) = 0.5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Jp = Jn = 0 at walls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5CE719-9B87-423D-8423-D25B445D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219700"/>
            <a:ext cx="8334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no-flux boundary means ions do not cross the electrode. It does not mean the electrode current is zero.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88B261-0B02-4385-9106-0F3B6BE8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8E389-733C-4858-A9BF-2579D144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Parameter reference and modeling assumptions</a:t>
            </a:r>
          </a:p>
        </p:txBody>
      </p:sp>
    </p:spTree>
    <p:extLst>
      <p:ext uri="{BB962C8B-B14F-4D97-AF65-F5344CB8AC3E}">
        <p14:creationId xmlns:p14="http://schemas.microsoft.com/office/powerpoint/2010/main" val="196046739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72A8E1-CE5C-4357-AE37-BDB8C983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0836E-5605-4B5A-9E03-4BF42665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PINN SURROGATE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C7466-EF84-48B4-AF90-43711E18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84CC7-790D-4E5B-BF00-84079BA6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90AE5-44E4-4B6C-9DF7-75D99408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657915-7DC3-4B6A-95CE-C1E46498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71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PINN learns a parameterized forward solution map.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342E2-EBCD-4F56-A91E-7777579F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383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It is not trained to output Dp and Dn directly.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36C39E-52CD-4846-8D06-D99E01AE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57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4D8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69919-C1D5-4659-BFF0-99BA1E13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860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F94F1-734D-4A8A-BC24-808835EA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9925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(x, t, Dp, Dn)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4033E-A866-4640-8FB3-1543C681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81350"/>
            <a:ext cx="76200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C76EB-6258-4D2B-890B-BD733254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7657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2970A-5C92-4B70-ABAD-221EF8DB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43175"/>
            <a:ext cx="2571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B9CA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DC962-7253-4C4E-BB1A-B42DD61F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85750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4E79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F4E79"/>
                </a:solidFill>
                <a:latin typeface="Aptos Mono"/>
                <a:ea typeface="Aptos Mono"/>
                <a:cs typeface="Aptos Mono"/>
              </a:rPr>
              <a:t>8-layer tanh MLP</a:t>
            </a:r>
          </a:p>
          <a:p xmlns:a="http://schemas.openxmlformats.org/drawingml/2006/main">
            <a:pPr algn="l">
              <a:defRPr sz="1575" b="0">
                <a:solidFill>
                  <a:srgbClr val="1F4E79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F4E79"/>
                </a:solidFill>
                <a:latin typeface="Aptos Mono"/>
                <a:ea typeface="Aptos Mono"/>
                <a:cs typeface="Aptos Mono"/>
              </a:rPr>
              <a:t>width 256</a:t>
            </a:r>
          </a:p>
          <a:p xmlns:a="http://schemas.openxmlformats.org/drawingml/2006/main">
            <a:pPr algn="l">
              <a:defRPr sz="1575" b="0">
                <a:solidFill>
                  <a:srgbClr val="1F4E79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F4E79"/>
                </a:solidFill>
                <a:latin typeface="Aptos Mono"/>
                <a:ea typeface="Aptos Mono"/>
                <a:cs typeface="Aptos Mono"/>
              </a:rPr>
              <a:t>JAX / Equinox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40CD60-62B9-4C34-9878-7CA6431A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81350"/>
            <a:ext cx="76200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3B9F5E-3EE7-4742-B76A-050DC112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7657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84DBF-10BA-48E4-8935-5A079A22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14625"/>
            <a:ext cx="257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7"/>
          </a:solidFill>
          <a:ln xmlns:a="http://schemas.openxmlformats.org/drawingml/2006/main" w="9525">
            <a:solidFill>
              <a:srgbClr val="B7D7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E73FBE-13F6-4C6E-A064-8C898179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8860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A08AAC-590D-41FA-A532-6AC68DAD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209925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(cp, cn, phi)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13676D-6C69-49D3-AD9E-86B36BC3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3395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1F604C-ACA6-48EC-9A97-4E4FBCBB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57750"/>
            <a:ext cx="8401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One trained model can be queried at many candidate parameter pairs.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AFA602-ECA6-40A1-934B-6275D392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9590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1A91C7-CB9B-4405-AB73-8629B61A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219700"/>
            <a:ext cx="8401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Initial concentrations and wall voltages are enforced structurally.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07CD73-C378-4066-BFFF-A3CBDF56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5785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D088C8-8418-433F-90FB-4DA5FA0E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81650"/>
            <a:ext cx="8401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The inverse problem uses current predicted from the PINN state.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B5037-0E61-434E-99B8-8B61CA9C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321892-C173-44C5-93B4-459F5DB9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What the neural network represents</a:t>
            </a:r>
          </a:p>
        </p:txBody>
      </p:sp>
    </p:spTree>
    <p:extLst>
      <p:ext uri="{BB962C8B-B14F-4D97-AF65-F5344CB8AC3E}">
        <p14:creationId xmlns:p14="http://schemas.microsoft.com/office/powerpoint/2010/main" val="5656376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83FAA0-8E02-43C2-8657-E7B248A0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352B8-BF94-47FF-9480-AFA6F682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4E9E4-135E-4160-B472-B11B531A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8D86A7-43F3-4CE0-9648-9D002452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1F05B5-3B8A-4F95-82D1-5664E5BF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EA8E1-7DD3-4A03-AB65-5F2A5298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Training enforces the PDE and the boundary conditions over parameter space.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82B2E-CA1C-4BD5-AB09-66C99692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Reference solutions are used for validation and synthetic data, not as the PINN training labels.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0E1EF-F8CF-444F-AF47-1A8EC6C1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5334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B9CA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A1C23-DF7A-46DC-A102-1786C3F4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533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A7F4A-AA47-4531-92C3-01B7EAD1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67000"/>
            <a:ext cx="4953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Loss(theta) = PDE residuals</a:t>
            </a:r>
          </a:p>
          <a:p xmlns:a="http://schemas.openxmlformats.org/drawingml/2006/main">
            <a:pPr algn="l">
              <a:defRPr sz="157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            + initial / boundary residuals</a:t>
            </a:r>
          </a:p>
          <a:p xmlns:a="http://schemas.openxmlformats.org/drawingml/2006/main">
            <a:pPr algn="l">
              <a:defRPr sz="157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            + parameter-domain sampling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C0F160-2DEB-4714-8B32-FD2AAA8C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5270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5F31D0-7A67-4BFD-B9CE-E5B6ED71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76500"/>
            <a:ext cx="3257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500000 Adam steps in the current completed run.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E622A-8E1B-4623-84E9-232AD5A4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0515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13F5A3-13A0-46FC-82DD-4DB4029B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28950"/>
            <a:ext cx="3257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The collocation points include x, t, Dp, and Dn.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D925A4-2D1B-49AC-B6A9-CC419FA2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5760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A032DC-F8E9-437B-B466-A5025DA9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81400"/>
            <a:ext cx="3257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The result is a reusable forward surrogate.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476316-7E4F-4C02-9014-67D96A1E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857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This is why the PINN matters: it turns a family of PDE solves into a trained map that can be evaluated repeatedly.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A5E35D-6464-45E5-A7DC-9675362F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375DDD-4978-4AE2-9EE5-7A1FCBA2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Training objective and role of the reference solver</a:t>
            </a:r>
          </a:p>
        </p:txBody>
      </p:sp>
    </p:spTree>
    <p:extLst>
      <p:ext uri="{BB962C8B-B14F-4D97-AF65-F5344CB8AC3E}">
        <p14:creationId xmlns:p14="http://schemas.microsoft.com/office/powerpoint/2010/main" val="8743111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9DB499-61CF-4050-86C1-BA9FC54E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7B559-09D3-4E2C-BB9C-DF5481B1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AMORTIZATION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26089-F99A-48BE-8256-CAE67B8F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2304F-6CFA-4CCB-839A-3D633EDF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9B708-5FAF-44B1-9DF4-1C2E91FC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B77A3-864B-4B54-85D4-6688DF4E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191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computational argument is amortized inference, not faster one-off training.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60F4E2-3D9D-42B0-9C24-E93B065D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41910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4D8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301004-EE32-4097-B20D-7ECF283D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42424"/>
                </a:solidFill>
                <a:latin typeface="Aptos"/>
                <a:ea typeface="Aptos"/>
                <a:cs typeface="Aptos"/>
              </a:rPr>
              <a:t>Without a surrogate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5B6334-89C5-41BE-93ED-8F0BAAB4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304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candidate (Dp,Dn)</a:t>
            </a:r>
          </a:p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       -&gt; benchmark solve</a:t>
            </a:r>
          </a:p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       -&gt; current prediction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21423A-8184-45B1-9866-67DC370D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38375"/>
            <a:ext cx="41910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7"/>
          </a:solidFill>
          <a:ln xmlns:a="http://schemas.openxmlformats.org/drawingml/2006/main" w="9525">
            <a:solidFill>
              <a:srgbClr val="B7D7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42F69-E5A8-4EFF-B078-60D1615B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955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With a trained PINN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D5483-1285-49F1-9043-84482F94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43250"/>
            <a:ext cx="304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candidate (Dp,Dn)</a:t>
            </a:r>
          </a:p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       -&gt; PINN evaluation</a:t>
            </a:r>
          </a:p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       -&gt; current prediction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79BB2E-A333-4E2F-B66C-214C76C0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400425"/>
            <a:ext cx="146685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F399BF-FF7E-4B52-B597-FBDB6F22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48E74-7CF6-44A5-800D-CE9526BF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147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many likelihood evaluations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0D74B8-96BB-4738-A003-A0FFB7C7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benefit appears when the same trained surrogate is reused across a grid posterior, MCMC, or repeated inverse experiments.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2E0AD8-0B5B-40E7-A198-4E0EC347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290C4E-63F2-4ACE-A712-5CB6C492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Why a PINN is useful for the inverse problem</a:t>
            </a:r>
          </a:p>
        </p:txBody>
      </p:sp>
    </p:spTree>
    <p:extLst>
      <p:ext uri="{BB962C8B-B14F-4D97-AF65-F5344CB8AC3E}">
        <p14:creationId xmlns:p14="http://schemas.microsoft.com/office/powerpoint/2010/main" val="9987564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6D05EE-E7F1-4BD0-B124-1A380E70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049D3A-E5DB-4010-A404-91466F2D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B0B43-DE3E-4E2F-B7C0-0D854D17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F7411-CC89-4186-A78C-E4D97E45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B8480-5EF6-49CD-8884-0C2733F5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E4722-D69D-4B83-B422-C187A328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real observable is current; Q(t) is only a simulation-side construction.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4499D-3965-4931-8664-045B7D79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4095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7"/>
          </a:solidFill>
          <a:ln xmlns:a="http://schemas.openxmlformats.org/drawingml/2006/main" w="9525">
            <a:solidFill>
              <a:srgbClr val="B7D7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0B33F-53C0-4F1C-B416-8477CFC3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409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1DC75-A449-449B-AE44-C1CEF650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Experiment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35AD3F-173F-40E5-B746-6C6A240C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37528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2175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external circuit</a:t>
            </a:r>
          </a:p>
          <a:p xmlns:a="http://schemas.openxmlformats.org/drawingml/2006/main">
            <a:pPr algn="l">
              <a:defRPr sz="2175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2175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measures I(t)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49751F-6982-4350-B82B-E0CDD656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05050"/>
            <a:ext cx="4762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B9CA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416CBA-E31D-4C12-987D-50071151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05050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84DBD1-A498-4E0A-A146-19A05DBA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4381500" cy="1609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PNP state -&gt; rho(x,t) -&gt; Q_L(t)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I_k = (Q_L(t_{k+1}) - Q_L(t_k)) / delta 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9F1365-4071-41AC-A414-BB5DD821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482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Q(t) route avoids unstable boundary derivatives when computing current from the simulated state. It is not the measurement itself.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3C1FB-D143-4544-B54E-A5525630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5E579-87A6-4B40-9B9F-A24F9A5C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Current measurement and synthetic current construction</a:t>
            </a:r>
          </a:p>
        </p:txBody>
      </p:sp>
    </p:spTree>
    <p:extLst>
      <p:ext uri="{BB962C8B-B14F-4D97-AF65-F5344CB8AC3E}">
        <p14:creationId xmlns:p14="http://schemas.microsoft.com/office/powerpoint/2010/main" val="166803784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38B4B8-081A-4CB6-A1C5-6B4B6288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2DE2B-02DD-4337-8603-098F3941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SYNTHETIC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82625-C13B-43E5-88A6-1BA09646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88FDB-4361-4FD5-9EB6-6E9C7BAD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5AB51-F4B3-4812-8DC8-6521BED6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9BBEE-3CD5-49C4-B607-67BD597D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Synthetic observations are generated independently of the PINN.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EA5C60-AE8F-440A-98C5-629D5188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3830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This separates the benchmark data source from the surrogate being tested.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B79198-F187-425B-BC0D-45D093D1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0375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E7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6CAE81-3303-4F7E-996D-D8F6791F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527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5A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45A2A"/>
                </a:solidFill>
                <a:latin typeface="Aptos"/>
                <a:ea typeface="Aptos"/>
                <a:cs typeface="Aptos"/>
              </a:rPr>
              <a:t>True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3152C4-E478-44E3-9B1F-F366564C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19475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Dp = 1.25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Dn = 1.25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A6D056-44A0-4507-B2D0-2983E273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38525"/>
            <a:ext cx="74295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37DFB6-E980-4604-9302-AFCC696C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337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5A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45A2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4A1C7B-B687-4DC7-949C-3C90067B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000375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B9CA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A6AC8-C69D-46AA-B0DD-FDAF0792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152775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Reference solver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D48EC3-87E9-4234-9D2B-80C5B063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419475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finite difference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BDF integration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1E6826-86F6-45A8-B15C-3F101011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38525"/>
            <a:ext cx="74295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41676-3409-4D23-AE2D-28DE17DC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337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7528F-DBF4-4EEF-A4AB-24B95607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000375"/>
            <a:ext cx="171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7"/>
          </a:solidFill>
          <a:ln xmlns:a="http://schemas.openxmlformats.org/drawingml/2006/main" w="9525">
            <a:solidFill>
              <a:srgbClr val="B7D7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A58B83-2708-45ED-916B-E22CEFFE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1527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Noise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7F47C7-22A0-4D29-90AB-0ED27802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4766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2% Gaussian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12C87D-2C4F-44A8-A15C-FA675021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438525"/>
            <a:ext cx="63817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051AB-01B5-4931-9B15-87E1EC5F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33337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02A802-4135-4CD0-AA9C-F15B12F4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000375"/>
            <a:ext cx="74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4D8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2226AD-68B3-4C52-AB69-EE287DEA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209925"/>
            <a:ext cx="428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42424"/>
                </a:solidFill>
                <a:latin typeface="Aptos"/>
                <a:ea typeface="Aptos"/>
                <a:cs typeface="Aptos"/>
              </a:rPr>
              <a:t>79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6C11C0-EEB2-42B7-AE25-5ACA9791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552825"/>
            <a:ext cx="523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points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FA24F7-9D5D-412F-BDB3-EAA0CD43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857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resulting data are noisy electrode-current observations for the inverse problem.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0908BF-AA64-4565-88FA-7234BD4B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1F60E3-B571-4430-BDFF-F30AD22B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Reference solver -&gt; synthetic current data</a:t>
            </a:r>
          </a:p>
        </p:txBody>
      </p:sp>
    </p:spTree>
    <p:extLst>
      <p:ext uri="{BB962C8B-B14F-4D97-AF65-F5344CB8AC3E}">
        <p14:creationId xmlns:p14="http://schemas.microsoft.com/office/powerpoint/2010/main" val="45363162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27159-FA3E-4012-AB2F-945F007D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CD783F-F0AB-41EC-9860-9D3C5FA6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INFERENCE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F5299-A57C-41E7-A595-1C1E6798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BA850-D963-4A5D-8A69-3DFD6288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1F93C-4D44-41D7-A45A-EE8E1ADA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D0607-2106-4A5A-8E5A-5271B157E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477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posterior is built by comparing observed current to PINN-predicted current.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AF4F5C-E490-41DE-9723-408BE770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4762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7"/>
          </a:solidFill>
          <a:ln xmlns:a="http://schemas.openxmlformats.org/drawingml/2006/main" w="9525">
            <a:solidFill>
              <a:srgbClr val="B7D7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3EB92A-5A7A-4C3A-8E3F-A94C1A26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A2171-2C30-4E38-A021-BC667B40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19350"/>
            <a:ext cx="4381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I_obs,k = I_PINN,k(Dp,Dn) + eps_k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eps_k ~ Normal(0, sigma^2)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r_k = (I_PINN,k - I_obs,k) / sigma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DE3E47-717B-4E3A-94E5-09D4BBA8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47900"/>
            <a:ext cx="4667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E7C8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0CFB7A-4990-494B-9439-BB2D1A2D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47900"/>
            <a:ext cx="4667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ACCA4A-70D8-4649-A901-CFF05B52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19350"/>
            <a:ext cx="42862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p(Dp,Dn | I_obs)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  proportional 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51515"/>
                </a:solidFill>
                <a:latin typeface="Aptos Mono"/>
                <a:ea typeface="Aptos Mono"/>
                <a:cs typeface="Aptos Mono"/>
              </a:rPr>
              <a:t>exp(-0.5 sum_k r_k^2) x prior(Dp,Dn)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1EBB28-55E5-45E3-90D0-B04E4507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CF610-FCB1-4BD7-B69E-457C8306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43500"/>
            <a:ext cx="763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Uniform prior over the 41 x 41 parameter grid.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C87544-DFAF-414C-B070-C8E06EF6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8165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8C840F-4BDE-40A1-823E-060B19D4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505450"/>
            <a:ext cx="763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The output is a distribution, not just a point estimate.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CCA78-CDD4-4E76-A959-9FC9B6B0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46CA95-8EE6-4EF9-950F-82807C09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Gaussian current likelihood and grid posterior</a:t>
            </a:r>
          </a:p>
        </p:txBody>
      </p:sp>
    </p:spTree>
    <p:extLst>
      <p:ext uri="{BB962C8B-B14F-4D97-AF65-F5344CB8AC3E}">
        <p14:creationId xmlns:p14="http://schemas.microsoft.com/office/powerpoint/2010/main" val="27301678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0836BC-94E6-439E-9225-211604B7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4EF8E-3DE4-43C2-85D9-094AFD93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CURRENT FIT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C99DA2-8B22-4106-9CCB-C30AE4E1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739F5-CD78-46EB-B573-7AC75E96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0A3B5-09E0-4C04-8D30-27CDF15D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B52D4-69C1-432A-BD02-ECB8CE13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477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At the MAP point, the PINN matches the observed current at the noise level.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205b224df4e68"/>
          <a:stretch xmlns:a="http://schemas.openxmlformats.org/drawingml/2006/main"/>
        </p:blipFill>
        <p:spPr>
          <a:xfrm xmlns:a="http://schemas.openxmlformats.org/drawingml/2006/main">
            <a:off x="1047750" y="1771650"/>
            <a:ext cx="7429500" cy="4333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6903E-6591-4120-BF7A-126A9B47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3812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A7029E-C48F-4234-8E73-D955D12E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14625"/>
            <a:ext cx="171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Dp = 1.25</a:t>
            </a:r>
          </a:p>
          <a:p xmlns:a="http://schemas.openxmlformats.org/drawingml/2006/main">
            <a:pPr algn="l">
              <a:def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Dn = 1.2125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22CA1-B879-4096-BDEC-58413970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857625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5A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45A2A"/>
                </a:solidFill>
                <a:latin typeface="Aptos"/>
                <a:ea typeface="Aptos"/>
                <a:cs typeface="Aptos"/>
              </a:rPr>
              <a:t>Observations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5200B-AA37-4D14-AD0B-EB1A7E52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1719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79 current intervals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2% relative noise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E4ED60-305F-4FFD-BBCE-1967FA8E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E4511E-8475-48F7-BFFF-B7CE7F07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Current fit evaluated on the likelihood signal</a:t>
            </a:r>
          </a:p>
        </p:txBody>
      </p:sp>
    </p:spTree>
    <p:extLst>
      <p:ext uri="{BB962C8B-B14F-4D97-AF65-F5344CB8AC3E}">
        <p14:creationId xmlns:p14="http://schemas.microsoft.com/office/powerpoint/2010/main" val="14661045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BBB901-31E6-4CAE-95B5-54237E09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6121D-DD6D-4796-89F3-18ACE6F1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POSTERIOR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90231-AFAD-46C5-A938-C3D6CD1F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C9628-40DF-4EEB-8786-F8AD39D6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C6090A-B226-45DB-BD0B-7F9DA7A2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F41FC-25DE-42A7-9783-A0FC9053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posterior contains the true parameters and shows coupled uncertainty.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93b6fbeb74885"/>
          <a:stretch xmlns:a="http://schemas.openxmlformats.org/drawingml/2006/main"/>
        </p:blipFill>
        <p:spPr>
          <a:xfrm xmlns:a="http://schemas.openxmlformats.org/drawingml/2006/main">
            <a:off x="983912" y="1733550"/>
            <a:ext cx="4794926" cy="4333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61085A-B729-4A0C-B27C-C74F2D8A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5A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45A2A"/>
                </a:solidFill>
                <a:latin typeface="Aptos"/>
                <a:ea typeface="Aptos"/>
                <a:cs typeface="Aptos"/>
              </a:rPr>
              <a:t>True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AB60BB-9749-48B7-A985-05C49716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Dp = 1.25, Dn = 1.25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138D87-4447-40F9-A09C-735F5749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Posterior mean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A79DE-D13A-46B4-9BA9-48A8C1B5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480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Dp = 1.2353</a:t>
            </a:r>
          </a:p>
          <a:p xmlns:a="http://schemas.openxmlformats.org/drawingml/2006/main">
            <a:pPr algn="l">
              <a:def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Dn = 1.2368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84DA6-34B8-435F-934F-5DC7B19D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24375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7C89"/>
                </a:solidFill>
                <a:latin typeface="Aptos"/>
                <a:ea typeface="Aptos"/>
                <a:cs typeface="Aptos"/>
              </a:rPr>
              <a:t>95% marginal intervals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B7FB91-9FAB-4C91-B15F-75450EB2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29175"/>
            <a:ext cx="342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Dp: [1.0625, 1.4000]</a:t>
            </a:r>
          </a:p>
          <a:p xmlns:a="http://schemas.openxmlformats.org/drawingml/2006/main">
            <a:pPr algn="l">
              <a:def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42424"/>
                </a:solidFill>
                <a:latin typeface="Aptos Mono"/>
                <a:ea typeface="Aptos Mono"/>
                <a:cs typeface="Aptos Mono"/>
              </a:rPr>
              <a:t>Dn: [1.0625, 1.4375]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D75B8-A24A-46C1-A64C-D17044E8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7150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true values are covered.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DEA144-C248-4D88-B7A1-8D294093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E8A04E-E940-4B59-85D3-3333C8EB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Posterior over diffusion parameters from current observations</a:t>
            </a:r>
          </a:p>
        </p:txBody>
      </p:sp>
    </p:spTree>
    <p:extLst>
      <p:ext uri="{BB962C8B-B14F-4D97-AF65-F5344CB8AC3E}">
        <p14:creationId xmlns:p14="http://schemas.microsoft.com/office/powerpoint/2010/main" val="72153647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757F1D-54CD-4292-A152-53AEDE30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6D1CD-46D4-44CA-8DD6-D623CB6A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C922CB-8ADF-413B-88D3-359C2802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B24D33-F68F-4008-80BB-1ABBB04C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EEDA69-3ECC-4B84-ABF2-D1A604A9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90DE9-C96F-4902-8F2E-230D3107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477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current result is a controlled proof of concept for PINN-based inverse inference.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07E0D-8236-4F73-B648-854BD530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98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47D09-95E9-4228-ADEE-6AA92C45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333625"/>
            <a:ext cx="868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The observation model is current-based and experimentally meaningful.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9BD46D-DF7D-4B6A-B6B3-A3068129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003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868BEF-C112-4EB4-9D48-F7D513B3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924175"/>
            <a:ext cx="868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The PINN is used as a reusable forward surrogate, not as the data source.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2D408F-B88A-4295-B996-48C17EA1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909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21995-E94D-45AE-AC39-82E733CC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514725"/>
            <a:ext cx="868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242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42424"/>
                </a:solidFill>
                <a:latin typeface="Aptos"/>
                <a:ea typeface="Aptos"/>
                <a:cs typeface="Aptos"/>
              </a:rPr>
              <a:t>The posterior result answers the inverse question with uncertainty.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D440FF-EA03-487D-86E4-2F6AEFA7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E6017-C081-43DF-931A-024212E9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143500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Repeat the experiment across true parameter pairs, vary the noise model and time sampling, then replace the grid posterior by MCMC if needed.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788F68-FAE0-47C6-8A8A-EDFAA907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8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A977AA-9315-40A2-89EA-06C32D9F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Conclusion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5390357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2026-06-02T11:39:31.9180000Z</dcterms:created>
  <dcterms:modified xsi:type="dcterms:W3CDTF">2026-06-02T11:39:31.9180000Z</dcterms:modified>
</coreProperties>
</file>