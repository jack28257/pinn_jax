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649726992d45e6" /><Relationship Type="http://schemas.openxmlformats.org/officeDocument/2006/relationships/extended-properties" Target="/docProps/app.xml" Id="Rb1d302360e4d41fd" /><Relationship Type="http://schemas.openxmlformats.org/officeDocument/2006/relationships/officeDocument" Target="/ppt/presentation.xml" Id="R14b2bafb2fef46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1fb7622a3d4552"/>
  </p:sldMasterIdLst>
  <p:notesMasterIdLst>
    <p:notesMasterId xmlns:r="http://schemas.openxmlformats.org/officeDocument/2006/relationships" r:id="R562d8e2d98a8454a"/>
  </p:notesMasterIdLst>
  <p:sldIdLst>
    <p:sldId xmlns:r="http://schemas.openxmlformats.org/officeDocument/2006/relationships" id="256" r:id="R5c6a538f4cf046eb"/>
    <p:sldId xmlns:r="http://schemas.openxmlformats.org/officeDocument/2006/relationships" id="257" r:id="Ra6a795fb85214bc1"/>
    <p:sldId xmlns:r="http://schemas.openxmlformats.org/officeDocument/2006/relationships" id="258" r:id="R1fa5fd01f52a48fb"/>
    <p:sldId xmlns:r="http://schemas.openxmlformats.org/officeDocument/2006/relationships" id="259" r:id="R6430883c134b445b"/>
    <p:sldId xmlns:r="http://schemas.openxmlformats.org/officeDocument/2006/relationships" id="260" r:id="R43738ad803d348c9"/>
    <p:sldId xmlns:r="http://schemas.openxmlformats.org/officeDocument/2006/relationships" id="261" r:id="R0b1f5e1e2f8d4b15"/>
    <p:sldId xmlns:r="http://schemas.openxmlformats.org/officeDocument/2006/relationships" id="262" r:id="R1d7e534dbfa04a85"/>
    <p:sldId xmlns:r="http://schemas.openxmlformats.org/officeDocument/2006/relationships" id="263" r:id="R6ff83e96878b465f"/>
    <p:sldId xmlns:r="http://schemas.openxmlformats.org/officeDocument/2006/relationships" id="264" r:id="Refc66c9c003b4eb4"/>
    <p:sldId xmlns:r="http://schemas.openxmlformats.org/officeDocument/2006/relationships" id="265" r:id="R787c0a8c435f43b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bfe78be0154575" /><Relationship Type="http://schemas.openxmlformats.org/officeDocument/2006/relationships/slideMaster" Target="/ppt/slideMasters/slideMaster1.xml" Id="Rcf1fb7622a3d4552" /><Relationship Type="http://schemas.openxmlformats.org/officeDocument/2006/relationships/notesMaster" Target="/ppt/notesMasters/notesMaster1.xml" Id="R562d8e2d98a8454a" /><Relationship Type="http://schemas.openxmlformats.org/officeDocument/2006/relationships/presProps" Target="/ppt/presProps.xml" Id="R783302cac22e4e67" /><Relationship Type="http://schemas.openxmlformats.org/officeDocument/2006/relationships/viewProps" Target="/ppt/viewProps.xml" Id="R620b0e22373d42ab" /><Relationship Type="http://schemas.openxmlformats.org/officeDocument/2006/relationships/tableStyles" Target="/ppt/tableStyles.xml" Id="Rbafa8af0893547e5" /><Relationship Type="http://schemas.openxmlformats.org/officeDocument/2006/relationships/slide" Target="/ppt/slides/slide1.xml" Id="R5c6a538f4cf046eb" /><Relationship Type="http://schemas.openxmlformats.org/officeDocument/2006/relationships/slide" Target="/ppt/slides/slide2.xml" Id="Ra6a795fb85214bc1" /><Relationship Type="http://schemas.openxmlformats.org/officeDocument/2006/relationships/slide" Target="/ppt/slides/slide3.xml" Id="R1fa5fd01f52a48fb" /><Relationship Type="http://schemas.openxmlformats.org/officeDocument/2006/relationships/slide" Target="/ppt/slides/slide4.xml" Id="R6430883c134b445b" /><Relationship Type="http://schemas.openxmlformats.org/officeDocument/2006/relationships/slide" Target="/ppt/slides/slide5.xml" Id="R43738ad803d348c9" /><Relationship Type="http://schemas.openxmlformats.org/officeDocument/2006/relationships/slide" Target="/ppt/slides/slide6.xml" Id="R0b1f5e1e2f8d4b15" /><Relationship Type="http://schemas.openxmlformats.org/officeDocument/2006/relationships/slide" Target="/ppt/slides/slide7.xml" Id="R1d7e534dbfa04a85" /><Relationship Type="http://schemas.openxmlformats.org/officeDocument/2006/relationships/slide" Target="/ppt/slides/slide8.xml" Id="R6ff83e96878b465f" /><Relationship Type="http://schemas.openxmlformats.org/officeDocument/2006/relationships/slide" Target="/ppt/slides/slide9.xml" Id="Refc66c9c003b4eb4" /><Relationship Type="http://schemas.openxmlformats.org/officeDocument/2006/relationships/slide" Target="/ppt/slides/slide10.xml" Id="R787c0a8c435f43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e7c4085c94c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ac4e7fc62840ed" /><Relationship Type="http://schemas.openxmlformats.org/officeDocument/2006/relationships/notesMaster" Target="/ppt/notesMasters/notesMaster1.xml" Id="R4b5c28bd981445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5e342def194dd3" /><Relationship Type="http://schemas.openxmlformats.org/officeDocument/2006/relationships/notesMaster" Target="/ppt/notesMasters/notesMaster1.xml" Id="R8081095f260f46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f72563cc124c5f" /><Relationship Type="http://schemas.openxmlformats.org/officeDocument/2006/relationships/notesMaster" Target="/ppt/notesMasters/notesMaster1.xml" Id="Rbcff0d9209ca41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cb8ab26a644ca9" /><Relationship Type="http://schemas.openxmlformats.org/officeDocument/2006/relationships/notesMaster" Target="/ppt/notesMasters/notesMaster1.xml" Id="Rd0af951d757a4e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fe1378d32f4840" /><Relationship Type="http://schemas.openxmlformats.org/officeDocument/2006/relationships/notesMaster" Target="/ppt/notesMasters/notesMaster1.xml" Id="R272413ee56f94f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7187833b9447db" /><Relationship Type="http://schemas.openxmlformats.org/officeDocument/2006/relationships/notesMaster" Target="/ppt/notesMasters/notesMaster1.xml" Id="R6c803e95526b44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b7987867cb49d1" /><Relationship Type="http://schemas.openxmlformats.org/officeDocument/2006/relationships/notesMaster" Target="/ppt/notesMasters/notesMaster1.xml" Id="Re011cf8fd49746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91de91caad4abd" /><Relationship Type="http://schemas.openxmlformats.org/officeDocument/2006/relationships/notesMaster" Target="/ppt/notesMasters/notesMaster1.xml" Id="R6364293b799f4a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b5a173d1e44a88" /><Relationship Type="http://schemas.openxmlformats.org/officeDocument/2006/relationships/notesMaster" Target="/ppt/notesMasters/notesMaster1.xml" Id="R115942c7321a49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bff014217d4c45" /><Relationship Type="http://schemas.openxmlformats.org/officeDocument/2006/relationships/notesMaster" Target="/ppt/notesMasters/notesMaster1.xml" Id="Ra226cccbe4274b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78010615ab4c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2a9e73381046da" /><Relationship Type="http://schemas.openxmlformats.org/officeDocument/2006/relationships/slideLayout" Target="/ppt/slideLayouts/slideLayout1.xml" Id="R0fcea0300b584f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cea0300b584f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ba8c812524bb5" /><Relationship Type="http://schemas.openxmlformats.org/officeDocument/2006/relationships/notesSlide" Target="/ppt/notesSlides/notesSlide1.xml" Id="Rc22f55b03f4c4b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dc1751589471c" /><Relationship Type="http://schemas.openxmlformats.org/officeDocument/2006/relationships/notesSlide" Target="/ppt/notesSlides/notesSlide2.xml" Id="R1060bf34305d40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73384be004fa0" /><Relationship Type="http://schemas.openxmlformats.org/officeDocument/2006/relationships/notesSlide" Target="/ppt/notesSlides/notesSlide3.xml" Id="Rcc779bed99df45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e6b1ce15e40f4" /><Relationship Type="http://schemas.openxmlformats.org/officeDocument/2006/relationships/notesSlide" Target="/ppt/notesSlides/notesSlide4.xml" Id="Raae7415d73f647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cdc4990834a7c" /><Relationship Type="http://schemas.openxmlformats.org/officeDocument/2006/relationships/notesSlide" Target="/ppt/notesSlides/notesSlide5.xml" Id="Rd91755b5289646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7de356a114ca0" /><Relationship Type="http://schemas.openxmlformats.org/officeDocument/2006/relationships/notesSlide" Target="/ppt/notesSlides/notesSlide6.xml" Id="R14f5e1d9607d41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dd0e789a54e0a" /><Relationship Type="http://schemas.openxmlformats.org/officeDocument/2006/relationships/notesSlide" Target="/ppt/notesSlides/notesSlide7.xml" Id="R1bce7f564d504a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731a0cb024d55" /><Relationship Type="http://schemas.openxmlformats.org/officeDocument/2006/relationships/image" Target="/ppt/media/image.png" Id="R22113a20576945b6" /><Relationship Type="http://schemas.openxmlformats.org/officeDocument/2006/relationships/notesSlide" Target="/ppt/notesSlides/notesSlide8.xml" Id="Rdeb0ce8b21754e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d5e2a2aff44ef" /><Relationship Type="http://schemas.openxmlformats.org/officeDocument/2006/relationships/image" Target="/ppt/media/image2.png" Id="R9a0786783f8c4770" /><Relationship Type="http://schemas.openxmlformats.org/officeDocument/2006/relationships/image" Target="/ppt/media/image3.png" Id="Re7c9156aadf04f97" /><Relationship Type="http://schemas.openxmlformats.org/officeDocument/2006/relationships/notesSlide" Target="/ppt/notesSlides/notesSlide9.xml" Id="Red27eb86b3504a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d66edb1394428" /><Relationship Type="http://schemas.openxmlformats.org/officeDocument/2006/relationships/notesSlide" Target="/ppt/notesSlides/notesSlide10.xml" Id="Rbeb075120d474dd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48792B-3035-4FC1-87FE-9B3E7DAE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2F98BFC-1992-4A54-B0C7-A5416D84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749C4DB-EA89-458F-8204-CD4E7917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CFA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CFAE"/>
                </a:solidFill>
                <a:latin typeface="Aptos"/>
                <a:ea typeface="Aptos"/>
                <a:cs typeface="Aptos"/>
              </a:rPr>
              <a:t>CURRENT-BASED PNP INFERENCE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F277A-3E9B-4617-8728-7A348871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8C1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8C1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993D6-A643-415E-9886-65643B5B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52500"/>
            <a:ext cx="8096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trained PINN can turn current measurements into a posterior over diffusion parameters.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C99937-1BB7-46A8-8275-8B6FD109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714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FD6D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FD6DA"/>
                </a:solidFill>
                <a:latin typeface="Aptos"/>
                <a:ea typeface="Aptos"/>
                <a:cs typeface="Aptos"/>
              </a:rPr>
              <a:t>1D Poisson-Nernst-Planck benchmark | synthetic charging-current observations | grid posterior for Dp and Dn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E1BAD6-B935-4CDC-A399-5D62AC06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18324-B89A-4EDF-9C80-F07F79FF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3862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79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10565-2304-4B2B-8329-1761F231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8D0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0D5"/>
                </a:solidFill>
                <a:latin typeface="Aptos"/>
                <a:ea typeface="Aptos"/>
                <a:cs typeface="Aptos"/>
              </a:rPr>
              <a:t>noisy current observations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DF4C5-A6E1-4A4D-97B1-97981915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957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8633CA-B926-4C2B-84FC-7FB685FF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23862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41 x 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F1E6E-A060-43EA-B4A3-F4972D8F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5910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8D0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0D5"/>
                </a:solidFill>
                <a:latin typeface="Aptos"/>
                <a:ea typeface="Aptos"/>
                <a:cs typeface="Aptos"/>
              </a:rPr>
              <a:t>posterior grid over Dp, Dn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670662-8509-4A48-9F36-21A36AA8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957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F3B9CE-5FC7-4BB4-BF3D-176597ED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3862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89B3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89B3C"/>
                </a:solidFill>
                <a:latin typeface="Aptos Display"/>
                <a:ea typeface="Aptos Display"/>
                <a:cs typeface="Aptos Display"/>
              </a:rPr>
              <a:t>true covered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F8B81-E068-4E3C-93DB-9CB44399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910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8D0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0D5"/>
                </a:solidFill>
                <a:latin typeface="Aptos"/>
                <a:ea typeface="Aptos"/>
                <a:cs typeface="Aptos"/>
              </a:rPr>
              <a:t>95% marginal intervals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621810-4FD3-4C39-8275-C15E87EA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66800"/>
            <a:ext cx="14288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46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C8133E-FD57-4C3D-89A0-7C05E20D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1049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Core message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72CBB3-BC91-4263-B394-0F290139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485900"/>
            <a:ext cx="18859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presentation is not only about training a PINN. It is about using a validated PINN surrogate inside a measurable inverse problem.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7AB68D-44A2-4536-8509-D0ACD60F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619500"/>
            <a:ext cx="1952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8D0D5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C8D0D5"/>
                </a:solidFill>
                <a:latin typeface="Aptos Mono"/>
                <a:ea typeface="Aptos Mono"/>
                <a:cs typeface="Aptos Mono"/>
              </a:rPr>
              <a:t>Observable: electrode current I(t)</a:t>
            </a:r>
          </a:p>
          <a:p xmlns:a="http://schemas.openxmlformats.org/drawingml/2006/main">
            <a:pPr algn="l">
              <a:defRPr sz="1200" b="0">
                <a:solidFill>
                  <a:srgbClr val="C8D0D5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C8D0D5"/>
                </a:solidFill>
                <a:latin typeface="Aptos Mono"/>
                <a:ea typeface="Aptos Mono"/>
                <a:cs typeface="Aptos Mono"/>
              </a:rPr>
              <a:t>Construction: simulated state -&gt; Q(t) -&gt; I(t)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A511D-E459-4757-A29B-A255024B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EB8B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EB8BE"/>
                </a:solidFill>
                <a:latin typeface="Aptos"/>
                <a:ea typeface="Aptos"/>
                <a:cs typeface="Aptos"/>
              </a:rPr>
              <a:t>Jack Jia | June 2026</a:t>
            </a:r>
          </a:p>
        </p:txBody>
      </p:sp>
    </p:spTree>
    <p:extLst>
      <p:ext uri="{BB962C8B-B14F-4D97-AF65-F5344CB8AC3E}">
        <p14:creationId xmlns:p14="http://schemas.microsoft.com/office/powerpoint/2010/main" val="19035041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B73685-8A50-4959-AF0F-4C4CE09F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D090DA3-60C9-40EA-A6DC-C27D31F5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D6BB076-133D-4173-909B-80594C1E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6E0B8-5BFC-444C-A56F-18D99569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817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BBC1F-C2E4-4011-8E5E-E6ED6185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3900"/>
            <a:ext cx="723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inverse problem should start from what an experiment can measure.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BAEC2-EBF3-4D24-B4C5-DF9E9BC9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57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Full concentration fields are useful for validation, but they are not the observation model we want to rely 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821A2-EBC8-44D2-BFF8-FBEFB1E1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0957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DDD2"/>
          </a:solidFill>
          <a:ln xmlns:a="http://schemas.openxmlformats.org/drawingml/2006/main" w="9525">
            <a:solidFill>
              <a:srgbClr val="D7B9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EC60E-FC88-4A53-B448-DA0BF17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5C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85C38"/>
                </a:solidFill>
                <a:latin typeface="Aptos"/>
                <a:ea typeface="Aptos"/>
                <a:cs typeface="Aptos"/>
              </a:rPr>
              <a:t>Not the target observation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962ABD-C7E8-4BEA-904E-5A9C0E18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Direct fields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2E264D-72BE-4949-9E06-058D1403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957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EEB71C-6E16-44CC-9796-50CEE8D3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10000"/>
            <a:ext cx="3257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cp(x,t), cn(x,t), phi(x,t) over the domain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D0C0BB-7FB1-48C2-A12D-3A21228C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148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E914A9-9433-4199-A60B-2ECC57CF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29100"/>
            <a:ext cx="3257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Hard to observe directly in an experiment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3865B-7D16-4736-8759-6C263134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33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B9BE7D-CD7F-46C5-BFF9-862F0527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48200"/>
            <a:ext cx="3257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Useful mainly for forward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EF8FE-B349-4ADF-AC4F-8583B99B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33625"/>
            <a:ext cx="47625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9525">
            <a:solidFill>
              <a:srgbClr val="A7CC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3202AD-3D97-483D-8B85-6C417828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47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Chosen observation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5DB4F5-4259-493E-BE96-3BDF6E93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028950"/>
            <a:ext cx="3857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Electrode current I(t)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6D5A0E-2E65-4AA3-964E-FE2BB9D1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8481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AF0764-3A9B-4775-917E-8F19855A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762375"/>
            <a:ext cx="382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Electrode-level signal, not a local probe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2F9369-9094-403A-A806-5BC88536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305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683A6F-9B3C-4CA0-924F-0B34DBC8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219575"/>
            <a:ext cx="382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Measurable in a real electrochemical circuit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F2E555-9B7A-40EB-81A5-DB976F07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762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0EBF47-E125-4631-9BDD-9BFFDB66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676775"/>
            <a:ext cx="382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Generated synthetically here from a benchmark solver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3EFEDA-BA61-493A-A3CC-54608E66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990600"/>
            <a:ext cx="333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This is the key framing: the inverse problem consumes current observations, not hidden concentration states.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D0CAF0-C785-4BB0-A506-F9F61115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29C647-05A8-4E6B-A860-AAFFBF0A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Motivation: move from field validation to a measurable current-based inverse problem</a:t>
            </a:r>
          </a:p>
        </p:txBody>
      </p:sp>
    </p:spTree>
    <p:extLst>
      <p:ext uri="{BB962C8B-B14F-4D97-AF65-F5344CB8AC3E}">
        <p14:creationId xmlns:p14="http://schemas.microsoft.com/office/powerpoint/2010/main" val="2650097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5FC4AB-C73B-4CBC-9473-B2ED0FD1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BBF61A7-5C50-4800-A68A-FDF55D4F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E43DA6F-D179-4339-BB90-FFE1093E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PNP BENCHMARK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D11B0-DF79-4640-9E02-1EE3E1C9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817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EA31CE-EEC9-46F4-B53C-DF6F6BB7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3900"/>
            <a:ext cx="7524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setup is idealized, but the physics and parameter box are explicit.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1F663-5E51-4EA0-9E1E-B2FDA55E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571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Controlled blocking-electrode benchmark for the inverse test.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AB95F-084F-4443-A83C-443B2ED8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44005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96D2B-185C-4E85-8A36-579C8C8B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40576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Jp = -Dp cp_x - Dp z+ cp phi_x</a:t>
            </a:r>
          </a:p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Jn = -Dn cn_x - Dn z- cn phi_x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cp_t + Jp_x = 0</a:t>
            </a:r>
          </a:p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cn_t + Jn_x = 0</a:t>
            </a:r>
          </a:p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-epsilon phi_xx - (z+ cp + z- cn) = 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B39457-4155-4E74-886F-DFAA9DFC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717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6A74D3-C15B-4832-A99C-D783948C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64795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Setting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EF7E2F-AE07-4ED0-A03D-D765CCAF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717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AFD15-F988-47C9-AFC6-32E23D78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6479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937314-F9EC-4C70-90E6-186B393B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146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925A4D-6142-49C2-8DE8-2947B4D7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99085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9FC95-A0AC-4442-B7AE-4705CDF1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146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6D2B65-BFD9-4927-BD4C-50CCBB9C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9908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x in [0,1], t in [0,0.2]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E271A0-F95A-42FF-B373-BAC115FA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2575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39DA14-44E3-486F-BFC5-9E678A7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33375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Parameter range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66DB45-4F5F-441A-9046-8F6EE226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575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260BA0-23DC-4966-B0D8-57713825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3337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Dp, Dn in [0.5,2.0]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758B54-D524-43CD-8EFC-9CB7E759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6004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264CDE-A5BE-416B-8A13-09717C90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67665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True case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1DF342-07D5-418C-AF3E-C89ABA0C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004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BCBE96-686A-42D0-8944-43709B35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6766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Dp = 1.25, Dn = 1.25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F52C31-E601-4551-BECC-27C50E180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9433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B99B25-33F3-4C18-AFA2-F83220CB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01955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Charges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ED0273-90C5-46FA-9EBE-BC3601A8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433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5820E5-10F3-4DD6-8200-CAFF7020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0195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z+ = 1, z- = -1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603C81-2E0F-48F8-8296-31026B72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2862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3FCC73-7BF7-4D25-A250-D39E5C7E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36245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Voltage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90551B-1003-4F0D-B214-97DE2444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862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59E257-6A5D-4FD2-9F9F-51786377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3624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phi(0) = -0.5, phi(1) = 0.5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869D0B-1123-4ECE-862F-F01E1FD2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6291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291955-569A-425D-86AE-B160F93F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70535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Ion boundary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867371-1FC2-4070-AC0C-EDA3996E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291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1658BC-B127-41BF-988B-68321506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7053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Jp = 0, Jn = 0 at walls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CD0C04-3018-4D9A-8CF1-9DD9338D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720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7602AC-A0F4-4537-8181-DC2C9CDD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504825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Observable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01C574-17A0-4C6D-85EE-10C2D6C5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72050"/>
            <a:ext cx="3143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233F9D6-A074-4469-BB12-CA30803C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0482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charging current, not ion flux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0B3BA1-706B-4A6B-B97C-F434E083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72125"/>
            <a:ext cx="44291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no-flux boundary is not a claim that no current exists. It means ions do not cross the electrode; the measured current is electrode charging current.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EBD2FF-9B01-4DC8-BE34-30D16BCA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3E579C-C5D4-4EC3-B7AF-4B337CC5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Parameter reference and assumptions</a:t>
            </a:r>
          </a:p>
        </p:txBody>
      </p:sp>
    </p:spTree>
    <p:extLst>
      <p:ext uri="{BB962C8B-B14F-4D97-AF65-F5344CB8AC3E}">
        <p14:creationId xmlns:p14="http://schemas.microsoft.com/office/powerpoint/2010/main" val="40615265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7ABE5E-AB24-42E4-98F1-4D631AC2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A4B81C4-621D-4B8E-A20F-296FFFCC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A9D9646-DAE2-434F-BB49-771FBA90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PINN SURROGATE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CE15F-9CD2-4434-AFA3-F0D1F23F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817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41A1B-0906-4F6C-859C-CA14E5B1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3900"/>
            <a:ext cx="7905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trained network amortizes the PNP forward map across diffusion parameters.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69064-DD51-41B9-B373-B38218F0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47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Once trained, the PINN can be reused for many likelihood evaluations over Dp and Dn.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82BD6-493B-4139-A0AC-0578E8D6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CF30E-ADC0-4BA5-892F-C9547EEB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28C1C6-E87B-47C2-876F-CAE42100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(x, t, Dp, Dn)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92853-DA30-4BE4-9E14-84A868EF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14700"/>
            <a:ext cx="838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B30DA-2784-4B50-A392-ECF61FC1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21945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5031F-0A00-41C6-B1A8-D528A9C3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33625"/>
            <a:ext cx="2857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1720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D3493-1F08-4031-952B-15A2086E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JAX / Equinox PINN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35C1FF-80C0-4796-8378-99556393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194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2D8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2D8DC"/>
                </a:solidFill>
                <a:latin typeface="Aptos"/>
                <a:ea typeface="Aptos"/>
                <a:cs typeface="Aptos"/>
              </a:rPr>
              <a:t>8-layer tanh MLP</a:t>
            </a:r>
          </a:p>
          <a:p xmlns:a="http://schemas.openxmlformats.org/drawingml/2006/main">
            <a:pPr algn="l">
              <a:defRPr sz="1350" b="0">
                <a:solidFill>
                  <a:srgbClr val="D2D8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2D8DC"/>
                </a:solidFill>
                <a:latin typeface="Aptos"/>
                <a:ea typeface="Aptos"/>
                <a:cs typeface="Aptos"/>
              </a:rPr>
              <a:t>width 256</a:t>
            </a:r>
          </a:p>
          <a:p xmlns:a="http://schemas.openxmlformats.org/drawingml/2006/main">
            <a:pPr algn="l">
              <a:defRPr sz="1350" b="0">
                <a:solidFill>
                  <a:srgbClr val="D2D8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2D8DC"/>
                </a:solidFill>
                <a:latin typeface="Aptos"/>
                <a:ea typeface="Aptos"/>
                <a:cs typeface="Aptos"/>
              </a:rPr>
              <a:t>500000 Adam steps</a:t>
            </a:r>
          </a:p>
          <a:p xmlns:a="http://schemas.openxmlformats.org/drawingml/2006/main">
            <a:pPr algn="l">
              <a:defRPr sz="1350" b="0">
                <a:solidFill>
                  <a:srgbClr val="D2D8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2D8DC"/>
                </a:solidFill>
                <a:latin typeface="Aptos"/>
                <a:ea typeface="Aptos"/>
                <a:cs typeface="Aptos"/>
              </a:rPr>
              <a:t>CPU backend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DCDF38-0F0F-4EF0-B0C9-40ACBD42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14700"/>
            <a:ext cx="838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706A1-092C-4F9D-AC12-D8F168F5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21945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7D0AF7-CDA2-47F2-8540-0C9E6B2A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3FABBC-C47C-4C5E-8A57-09177DB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CE8BE3-6664-4FAF-9F38-E81FD4F6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5755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(cp, cn, phi)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00FA81-ECD7-4BEB-BC1D-9B990AE6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DE7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CDE8AA-3974-4DB3-995A-9C6AA57A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05375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D7D6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2D7D64"/>
                </a:solidFill>
                <a:latin typeface="Aptos Display"/>
                <a:ea typeface="Aptos Display"/>
                <a:cs typeface="Aptos Display"/>
              </a:rPr>
              <a:t>exact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2747FF-6308-4E51-88DB-7DA33E95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5780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cp, cn initial conditions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BB0341-3BEC-4D1F-A21D-CDA30C5F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DE7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B688B0-3920-4C99-87B8-12C0544D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05375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D7D6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2D7D64"/>
                </a:solidFill>
                <a:latin typeface="Aptos Display"/>
                <a:ea typeface="Aptos Display"/>
                <a:cs typeface="Aptos Display"/>
              </a:rPr>
              <a:t>exact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A912D-83CC-4C0E-AADD-F39A0995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5780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fixed wall voltages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CEA5BE-B0A1-42FD-8EE2-4AAFC1B0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62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D6E208-7F03-4DF8-AAD4-5754EA04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905375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6E8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06E8C"/>
                </a:solidFill>
                <a:latin typeface="Aptos Display"/>
                <a:ea typeface="Aptos Display"/>
                <a:cs typeface="Aptos Display"/>
              </a:rPr>
              <a:t>~1e-3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F2B7A8-C90F-4298-B3C7-6AC3A695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5780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concentration rel. L2 vs reference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B5FA24-8BCA-4D1A-AA1E-1CF4679C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6250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6C8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B94218-EA69-4C6F-850A-E2C17733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905375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89B3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89B3C"/>
                </a:solidFill>
                <a:latin typeface="Aptos Display"/>
                <a:ea typeface="Aptos Display"/>
                <a:cs typeface="Aptos Display"/>
              </a:rPr>
              <a:t>~2.5e-2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A0A286-CF1D-42B2-A793-188178F4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2578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phi rel. L2 at true case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3120DE-FE2B-4454-9D8B-48D12976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769E50-06BA-416F-AC39-A20AB12C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Trained surrogate: (x,t,Dp,Dn) -&gt; (cp,cn,phi)</a:t>
            </a:r>
          </a:p>
        </p:txBody>
      </p:sp>
    </p:spTree>
    <p:extLst>
      <p:ext uri="{BB962C8B-B14F-4D97-AF65-F5344CB8AC3E}">
        <p14:creationId xmlns:p14="http://schemas.microsoft.com/office/powerpoint/2010/main" val="7230800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5834A3-96A7-492A-9A68-83854F07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6BCD470-D332-4E31-819C-9C7A81B5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E733FE2-5544-421F-B908-24B59B2F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SYNTHETIC DATA GENERATION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DDFF0-F518-4685-BB2C-660EB6DE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817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506F18-DECB-4729-8270-646BC03A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3900"/>
            <a:ext cx="8191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current data come from an independent benchmark solver, not from the PINN.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7F40FE-3810-4926-BE45-EFF62217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90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This keeps the inverse test honest: the PINN is evaluated against data generated by a separate numerical model.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A1CD51-FC4A-4208-8130-44B75C0F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2000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71E191-37CC-4690-8DD9-7102FC5B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67025"/>
            <a:ext cx="1657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85C3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5C38"/>
                </a:solidFill>
                <a:latin typeface="Aptos"/>
                <a:ea typeface="Aptos"/>
                <a:cs typeface="Aptos"/>
              </a:rPr>
              <a:t>1. TRUE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449DB8-7CD5-47FA-9279-54896517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16573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Dp = 1.25</a:t>
            </a:r>
          </a:p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Dn = 1.25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3DF40-ECF6-4CFB-988A-E741B661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00425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B50E21-4138-4F0C-A8AB-A44DCF1A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051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85C3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5C3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DCC09-F6B9-4371-9A62-7DC53F7F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14625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BF0EC-DA45-486D-9A5B-96CEBB27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67025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2. REFERENCE SOLVER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0BB8EA-1F47-49CA-872E-871319E5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52775"/>
            <a:ext cx="20383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Finite-difference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method of lines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BDF time 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CC69FC-825B-41AB-806C-0EB62B37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00425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704FC8-751D-41F1-ABFC-1878D13E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051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B772F3-7980-481E-A061-27022244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14625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DE7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06E4E2-AFDE-47C5-B58C-117C199D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67025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D7D6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7D64"/>
                </a:solidFill>
                <a:latin typeface="Aptos"/>
                <a:ea typeface="Aptos"/>
                <a:cs typeface="Aptos"/>
              </a:rPr>
              <a:t>3. CLEAN CURRENT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E3BB76-8D02-4B6E-870B-F9276CCD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52775"/>
            <a:ext cx="20383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PNP state -&gt; Q(t)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interval average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I_k = delta Q / delta 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C864C3-B152-4C2C-A8E6-8FA416D4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00425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8C922B-5E22-4690-AADB-2554682F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30517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7D6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D7D64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6EDCB6-12F3-4D39-AA14-F6489686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14625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6C8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5CCCE3-33D4-4943-921B-6E4CD77B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867025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4. NOISE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228567-42EF-4E7E-93D7-B17C52F7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52775"/>
            <a:ext cx="1085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2% Gaussian</a:t>
            </a:r>
          </a:p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noise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9F8D76-1231-4E1D-A08B-CDD0434D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8991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17202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48A32E-143D-4CEA-9D9A-0A9B274F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095875"/>
            <a:ext cx="742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Resulting observation: noisy electrode-current data for inverse inference.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F627D2-58A9-42C1-A32E-C74F27E6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41020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8D0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0D5"/>
                </a:solidFill>
                <a:latin typeface="Aptos"/>
                <a:ea typeface="Aptos"/>
                <a:cs typeface="Aptos"/>
              </a:rPr>
              <a:t>79 intervals after skipping the first transient interval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43A494-3618-4927-9079-37E14D53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8FF069-1761-4ABF-A2DA-C33FCFBF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Reference solver -&gt; synthetic current data</a:t>
            </a:r>
          </a:p>
        </p:txBody>
      </p:sp>
    </p:spTree>
    <p:extLst>
      <p:ext uri="{BB962C8B-B14F-4D97-AF65-F5344CB8AC3E}">
        <p14:creationId xmlns:p14="http://schemas.microsoft.com/office/powerpoint/2010/main" val="18281031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A6EDC4-A711-4AA4-A1CF-3C443B4A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525C258-0E75-4801-A024-FB4C3126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0903E91-EBDF-427C-8238-AAA35A7C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OBSERVABLE DEFINITION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60561-9F67-4905-B876-75808866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8174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FAC4A0-E0F2-443E-A700-5A26C030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3900"/>
            <a:ext cx="85248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Q(t) is a simulation-side route to the current observable, not the measured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A3F00F-7F07-4ED5-8E28-F4C70024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742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In a real experiment the instrument measures I(t). In the synthetic benchmark, Q(t) lets us construct the same charging-current signal from the simulated PNP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2F0AE-B205-4B36-808E-A2C4F167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4191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2470E-EF48-4ACA-BBF8-FC5CBFBB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813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Experiment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376059-4AFB-4E97-8492-7C517778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external circuit directly measures I(t)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10B72-7855-4E1C-81A3-EC8EF07D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76700"/>
            <a:ext cx="3190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No concentration field or electrode charge reconstruction is assumed.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32FC4D-BA84-4980-B55A-00566321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33650"/>
            <a:ext cx="4857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9525">
            <a:solidFill>
              <a:srgbClr val="A7CC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85E565-F048-4386-AB63-E9CAD258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003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Synthetic benchmark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C2DD4-BC7F-4E89-9A1D-191C39FF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81350"/>
            <a:ext cx="4095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725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PNP state -&gt; rho(x,t) -&gt; Q_L(t) -&gt; I_k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7E88BF-A37A-4644-BE5A-95DB46A9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147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191CE-FECA-49D2-9964-E051BEED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4171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F9"/>
          </a:solidFill>
          <a:ln xmlns:a="http://schemas.openxmlformats.org/drawingml/2006/main" w="9525">
            <a:solidFill>
              <a:srgbClr val="C6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2E769-A705-4EEE-AD65-B0E6E96E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57650"/>
            <a:ext cx="38290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rho = z+ cp + z- cn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Q_L(t) = -epsilon (V_R - V_L)/L</a:t>
            </a:r>
          </a:p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         - integral ((x_R - x)/L) rho(x,t) dx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I_k = (Q_L(t_{k+1}) - Q_L(t_k)) / delta 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4CCA7D-62BE-4777-94B2-D8FEB6D5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57800"/>
            <a:ext cx="417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Q(t) is used only to avoid unstable PINN boundary derivatives while preserving the electrode-level current meaning.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16CF4C-D414-4749-976A-AEE7C7C4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447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5C3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85C38"/>
                </a:solidFill>
                <a:latin typeface="Aptos"/>
                <a:ea typeface="Aptos"/>
                <a:cs typeface="Aptos"/>
              </a:rPr>
              <a:t>Why not boundary ionic flux? Because the blocking boundary has Jp = Jn = 0 at the wall.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99840-16E1-4FB9-86AD-26F3452D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98F86F-65AB-4314-A70A-B8FB5930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Observable: current I(t); Q(t) is only the construction used inside the simulator</a:t>
            </a:r>
          </a:p>
        </p:txBody>
      </p:sp>
    </p:spTree>
    <p:extLst>
      <p:ext uri="{BB962C8B-B14F-4D97-AF65-F5344CB8AC3E}">
        <p14:creationId xmlns:p14="http://schemas.microsoft.com/office/powerpoint/2010/main" val="19773538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E0E3AF-FD3C-4EF7-8075-16E53908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889C696-F707-4A42-A447-C7D6705B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1708E79-E03B-4ED1-916E-9237FFEA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INVERSE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57CA0-55B5-460A-8834-AF319414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8174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9F3D8-31AC-434B-8827-BD029DAC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3900"/>
            <a:ext cx="7905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posterior is built by comparing observed current to PINN-predicted current.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D2DD4-4E3B-48AA-B03F-20FB5A6A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28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output is a distribution over Dp and Dn, not only a best-fit point.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F9B68E-A183-48E1-A4A8-60B8F74F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BA092D-BFEF-4CA7-87D6-1ED1390A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Candidate grid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80B3AB-2FAC-42A2-B81E-1057F254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E4ED2-8991-436B-A675-D911DBCF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28BB9B-AD3E-4469-93D9-FE6BBC0E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A5DC7E-60E0-49E2-B384-C4BD34BF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27B726-F2AB-45D9-8667-6A1D48A9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649FA4-FD38-4453-B167-B9EA7621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ED383-3189-4D69-98C4-EDC3F055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DAA6AB-CFFD-41D2-A5C5-5D2CB203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3367DA-4B48-4F70-9C1B-EFA2804F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0EFA33-BBF4-4030-8EDA-3B449A6E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D212E8-C61C-411F-B9C1-55B20E25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D0D92D-2964-4931-9181-5E87FE3D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9265F6-392C-468B-A798-400124F2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FBE30D-CF00-4A3B-AF33-B5617FD9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EB8129-798E-40EB-94C8-B42E6608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60E81D-363C-418D-B440-4B7684E1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873DAE-28D6-461A-AA83-2261459D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5A5B1F-4F6E-4137-9E51-4A0BFC43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9038C2-2697-4DC0-95E0-4BC6766E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1C0181-6D56-4318-B44B-DB0A0870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275309-6C28-4147-81A7-95EC5D89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FB6D69-DC4A-4FC9-980F-0D602477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E2A5FE-9CDD-47B5-BED6-7952D2F6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08E772-6A5A-42A7-9A3D-CC0517AD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3040FC-9887-457E-B3CB-8383B8AE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86F0F8-4C71-48B6-8E12-3307961C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FAB242-89AD-4158-A3BB-79C7EBA7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525C0F-3F29-45D7-9266-D8A2A6E3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D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AFE1AC-3491-41E7-98AF-5FE7D539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5E177A-2F01-448A-B57E-B068D60B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A08A3C-3EF7-4E4A-8F1E-1E92A63D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6C213B-97C2-448E-8CCC-3F0E7297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3270BF-73E4-4DD2-82EB-78C9BBD5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ACEE1D-B307-4EA7-B7B6-F2910A09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5F451A-4F4D-4C4D-9467-C88A8188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177617-0620-471E-BC5A-CDB30301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9D0FD5F-D329-4951-8FBD-D150F596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F74410-B004-445D-A40E-18952C67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69978F-30C4-4CE8-B42A-9B5E01CD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7D9646-7CBE-46F3-979E-ED3BAFAE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1561F-D212-42F6-BA69-80F53181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2E6A5C6-DF39-4028-8FFE-074CEA7A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84FBE23-1458-43AF-891A-59FE27BA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0EB1F75-4BBC-4DCD-A907-A4F7BF28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7703A7-1B81-43CD-8C7B-4B1A5573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81B3F04-FBBE-464B-A657-CEF6081F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1C4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B182B27-7CDC-488F-B80D-86A7DEAD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B3D542B-991F-4427-9E08-42A24176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5E0194F-F87E-4ED0-B08D-F9A7DAA3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F47A405-25D5-424B-9659-63F10389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7E88278-78C6-4151-BA98-98EC0C24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7C23404-DC09-4F17-8B5C-F5130AF7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EDAE31-5211-4A9B-A551-B50E5509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A82BDC6-8606-499D-A111-F75EEB35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C63A3FA-CFA9-43D4-9E41-8CEF8514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A8CD017-3AE0-4A99-B3D0-4229FB6D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DF3B54F-F419-49AE-9AA3-D1EF2A66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6592101-8F69-43D6-BAE3-5DEA396C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9572EA7-B7C3-4C6D-B335-1F0374F3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CA9BCF9-23F8-40F7-80D4-8583FB5C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48F3E55-5B97-472E-8D84-154CA475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969F292-A1F3-400A-ABAF-9822312E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E4380FA-6718-4417-88FB-59A93BE8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4E75040-986C-4D16-BCE8-983D03C1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A2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CA98AF4-6898-46C6-BD9A-55E5E767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A48AA99-69F1-4A9D-BB4E-87357EDF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56D0E8D-18B0-40C3-BA1C-75EF23BC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EB17F90-0DCE-4466-A1B1-BB983A8B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B5FAAC7-56F3-4519-87E3-EBDB26C5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D0BF571-0B49-4AC5-ADFC-0B1944CE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55ACC45-1520-4F28-9642-946542AE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DA3300D-8631-45ED-8916-F439FE68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A40D13B-7413-49F0-843D-2E12CB00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43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9CE0455-B889-450D-86E2-9171A25E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14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DE0864F-E8AB-4036-8744-77FF02BD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86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35E361E-D0BA-4946-A578-E96F4649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F672C49-5286-4756-84F5-92AF5BE8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29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657DB22-BAE7-4404-9F4B-D3BCB60C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000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72F3BFB-C493-48C5-9455-C5310FBD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37E1D80-F914-4243-A9EA-0E7FCF3B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434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FA72284-371B-4665-ABA9-25A5CF25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14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5C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361B500-B987-498D-8228-ED997239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314700"/>
            <a:ext cx="857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41 x 41 pairs</a:t>
            </a:r>
          </a:p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(Dp, Dn)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1926423-E3ED-414E-90CA-F46A1C2E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0995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67F3C2B-45B3-4DD9-BE1D-72948804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147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1B8F94A-D998-45C6-AAB9-137A0B5D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5745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17202A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F79B483-DB21-4FBE-A274-843C5664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24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PINN forward calls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915D19F-43A2-48A2-B2C7-AA1167DD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385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predict I_k(Dp,Dn)</a:t>
            </a:r>
          </a:p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for every grid point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DC3739B-74F0-4380-903F-DEF42939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0995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27B0C66-24EC-4B90-8BB7-C7131A03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147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57A82F2-DFA5-497E-BE4B-F69CDBEB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57450"/>
            <a:ext cx="2381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DE7"/>
          </a:solidFill>
          <a:ln xmlns:a="http://schemas.openxmlformats.org/drawingml/2006/main" w="9525">
            <a:solidFill>
              <a:srgbClr val="B8D9C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3C70B7F-4C3A-435F-B83B-BABFD59E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D7D6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7D64"/>
                </a:solidFill>
                <a:latin typeface="Aptos"/>
                <a:ea typeface="Aptos"/>
                <a:cs typeface="Aptos"/>
              </a:rPr>
              <a:t>Normalized posterior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599FD75-B22D-4880-803C-03477DA2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52800"/>
            <a:ext cx="1762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p(Dp,Dn | I_obs)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7802C44-67C6-4955-954D-AE09AB61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86200"/>
            <a:ext cx="152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uniform prior on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[0.5,2.0]^2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B626695-9D13-496B-BFBE-1AB00B09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00625"/>
            <a:ext cx="4572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A972F70-C605-4045-92A2-C69C7D92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153025"/>
            <a:ext cx="42291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I_obs,k = I_PINN,k(Dp,Dn) + eps_k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eps_k ~ Normal(0, sigma^2)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sigma = 0.02 * max |I_clean|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A6E2D94-10E7-44CD-88C4-1174A703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9112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This grid posterior is deliberately simple and transparent for the presentation. It can be replaced by MCMC later.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73F5728-0D82-44B8-B470-7A53EC27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21013B7-A477-4972-92A8-94E07E0D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Likelihood: independent Gaussian current noise</a:t>
            </a:r>
          </a:p>
        </p:txBody>
      </p:sp>
    </p:spTree>
    <p:extLst>
      <p:ext uri="{BB962C8B-B14F-4D97-AF65-F5344CB8AC3E}">
        <p14:creationId xmlns:p14="http://schemas.microsoft.com/office/powerpoint/2010/main" val="114175301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166BF1-8A3A-4E42-86AC-EFE47626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1F7B0E9-D7FB-42EC-8EED-AB32F3E3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644E9A6-5D52-49E6-A8C0-0961F3D0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CURRENT FIT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10D83-7A83-4F6E-B010-73F365A0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8174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ED253-3C2F-4BCA-AB23-5B2C9806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3900"/>
            <a:ext cx="79533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At the MAP, the PINN reproduces the synthetic current trace at the observation level.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00CDA-D4C6-484A-8F87-84BD6625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66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fit is evaluated on the current signal used in the likelihood, not on hidden concentration fields.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FE961-2422-4A13-ABC6-5738E87A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52700"/>
            <a:ext cx="7191375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13a20576945b6"/>
          <a:stretch xmlns:a="http://schemas.openxmlformats.org/drawingml/2006/main"/>
        </p:blipFill>
        <p:spPr>
          <a:xfrm xmlns:a="http://schemas.openxmlformats.org/drawingml/2006/main">
            <a:off x="1351616" y="2686050"/>
            <a:ext cx="5745443" cy="32956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CF4B7-505F-438B-9A40-35C123F0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527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B98C5-27A0-4FA7-ABA2-B7B428BA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9557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6E8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06E8C"/>
                </a:solidFill>
                <a:latin typeface="Aptos Display"/>
                <a:ea typeface="Aptos Display"/>
                <a:cs typeface="Aptos Display"/>
              </a:rPr>
              <a:t>79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10E7CC-1A54-49AE-AE14-8417D392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480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current observations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E022D4-0FF9-43F5-80DC-A0E72F6B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48075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6C8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1EB34-41AC-405B-9576-3C6E8FE9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909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9B3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89B3C"/>
                </a:solidFill>
                <a:latin typeface="Aptos Display"/>
                <a:ea typeface="Aptos Display"/>
                <a:cs typeface="Aptos Display"/>
              </a:rPr>
              <a:t>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8543E7-295C-4BCF-B5F8-EE826A26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4337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relative Gaussian noise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CBC1A2-ADE8-4979-B18D-0361A68C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434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DE7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D2B978-BCCC-421A-828C-7AAD055E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886325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D7D6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2D7D64"/>
                </a:solidFill>
                <a:latin typeface="Aptos Display"/>
                <a:ea typeface="Aptos Display"/>
                <a:cs typeface="Aptos Display"/>
              </a:rPr>
              <a:t>7.3 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CED10E-6637-43D6-975C-3FACEC1E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23875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posterior grid evaluation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C19E47-857C-42B0-B79A-11EEBB97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73405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Observation: interval-averaged charging current from the left electrode.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3E5704-7391-4C7E-8BE9-772AE773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BB697A-AE2D-4B78-AF72-7193BBB0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Current fit at posterior MAP</a:t>
            </a:r>
          </a:p>
        </p:txBody>
      </p:sp>
    </p:spTree>
    <p:extLst>
      <p:ext uri="{BB962C8B-B14F-4D97-AF65-F5344CB8AC3E}">
        <p14:creationId xmlns:p14="http://schemas.microsoft.com/office/powerpoint/2010/main" val="112092464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20B729-B64F-498E-A49A-FA50E248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3A37A9F-5779-4D83-8917-18E43C8B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E8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44AE522-21BF-4810-9A46-2A044842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POSTERIOR RESULT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797081-F25E-4F0D-BB2E-F73DA68B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8174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184788-6639-4895-8967-F66FE493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3900"/>
            <a:ext cx="8001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posterior covers the true parameters and reveals coupled uncertainty.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1702C-4777-441C-A7C3-42C47333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inference result is a posterior region, not a deterministic point estimate.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5C037-CAA4-4170-A31E-061C6192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452437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786783f8c4770"/>
          <a:stretch xmlns:a="http://schemas.openxmlformats.org/drawingml/2006/main"/>
        </p:blipFill>
        <p:spPr>
          <a:xfrm xmlns:a="http://schemas.openxmlformats.org/drawingml/2006/main">
            <a:off x="850821" y="2609850"/>
            <a:ext cx="4080033" cy="3257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5230C-DB0B-4B2A-AC2B-9CC7BF27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76500"/>
            <a:ext cx="4095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9156aadf04f97"/>
          <a:stretch xmlns:a="http://schemas.openxmlformats.org/drawingml/2006/main"/>
        </p:blipFill>
        <p:spPr>
          <a:xfrm xmlns:a="http://schemas.openxmlformats.org/drawingml/2006/main">
            <a:off x="5524500" y="2595033"/>
            <a:ext cx="3905250" cy="1648883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65DA92-F3AD-4E7A-A7AC-0AF64C22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91050"/>
            <a:ext cx="40957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0"/>
          </a:solidFill>
          <a:ln xmlns:a="http://schemas.openxmlformats.org/drawingml/2006/main" w="9525">
            <a:solidFill>
              <a:srgbClr val="D6CEC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F3392C-BA17-49F0-BDDD-7DF0271C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815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E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6E8C"/>
                </a:solidFill>
                <a:latin typeface="Aptos"/>
                <a:ea typeface="Aptos"/>
                <a:cs typeface="Aptos"/>
              </a:rPr>
              <a:t>Summary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A6547E-74B6-43B0-98A7-CBDA6AC2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048250"/>
            <a:ext cx="3524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true:  Dp=1.25, Dn=1.25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MAP:   Dp=1.25, Dn=1.2125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mean:  Dp=1.23531, Dn=1.23677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573D4B-56E3-4DEF-A550-631A8C16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76500"/>
            <a:ext cx="1943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C03C20-1F5B-49DA-AAFB-4DE3DD76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19375"/>
            <a:ext cx="160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6E8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06E8C"/>
                </a:solidFill>
                <a:latin typeface="Aptos Display"/>
                <a:ea typeface="Aptos Display"/>
                <a:cs typeface="Aptos Display"/>
              </a:rPr>
              <a:t>[1.0625, 1.4]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6530D-B9EC-4CA9-A011-A9269D67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971800"/>
            <a:ext cx="160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95% interval for Dp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B9978A-EB61-4A99-A7A1-548B6B8D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71875"/>
            <a:ext cx="1943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EF2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24225-61E4-47D6-99DC-86EA56C8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714750"/>
            <a:ext cx="160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6E8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06E8C"/>
                </a:solidFill>
                <a:latin typeface="Aptos Display"/>
                <a:ea typeface="Aptos Display"/>
                <a:cs typeface="Aptos Display"/>
              </a:rPr>
              <a:t>[1.0625, 1.4375]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EB4F73-0701-46EB-A919-A8A8EF2F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67175"/>
            <a:ext cx="160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95% interval for Dn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A482E-89B2-4DC9-B132-BC86EF68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67250"/>
            <a:ext cx="1943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DE7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78E0F-C6D4-4C5F-AC71-C3305782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10125"/>
            <a:ext cx="160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D7D64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2D7D64"/>
                </a:solidFill>
                <a:latin typeface="Aptos Display"/>
                <a:ea typeface="Aptos Display"/>
                <a:cs typeface="Aptos Display"/>
              </a:rPr>
              <a:t>yes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D8D8A1-BF3E-404C-9472-68304D26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162550"/>
            <a:ext cx="1600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true value 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19D962-02A6-44E9-B128-E0CC305B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BD7808-75DA-408D-A589-C82FAC2E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Posterior over Dp and Dn from synthetic charging-current observations</a:t>
            </a:r>
          </a:p>
        </p:txBody>
      </p:sp>
    </p:spTree>
    <p:extLst>
      <p:ext uri="{BB962C8B-B14F-4D97-AF65-F5344CB8AC3E}">
        <p14:creationId xmlns:p14="http://schemas.microsoft.com/office/powerpoint/2010/main" val="169259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02F1D7-8115-4914-9591-3659F6D5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4238EC1-F8E0-4D2A-8B2C-0259984F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0E4F8C0-6D61-4F70-8387-F89BD77B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CFA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CFAE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B48DE4-7ED9-4CFD-8405-6CA56A06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429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8C1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8C1C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92742-1DEC-432C-921B-970540F6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00100"/>
            <a:ext cx="8572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problem is non-trivial because the data are compressed, indirect, and uncertainty-bearing.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86C81-3273-4C59-A1F6-F9DE2123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FD6D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FD6DA"/>
                </a:solidFill>
                <a:latin typeface="Aptos"/>
                <a:ea typeface="Aptos"/>
                <a:cs typeface="Aptos"/>
              </a:rPr>
              <a:t>The current result is a proof of concept for using a trained PINN as a reusable forward model in inverse inference.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89FC4-1F98-4260-9DC1-DEC840F1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4857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9525">
            <a:solidFill>
              <a:srgbClr val="3A46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A7AE0-6936-4CE0-BA16-161D13E6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14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What makes it non-trivial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13B292-2027-4416-8D63-ACA6B0DF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62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14B3B-B593-4187-A8FE-C0BE62E4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76625"/>
            <a:ext cx="3638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We observe only electrode current.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A3654A-9583-4219-937A-5CDCE4D9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338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D69317-533C-46F5-B264-9F610AE9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48100"/>
            <a:ext cx="3638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Current is a compressed signal.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2EE239-2C63-4B98-8592-D229580C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05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73265-62BD-42C1-B191-EA1A8125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19575"/>
            <a:ext cx="3638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Dp and Dn can be correlated.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A76A85-7F2B-4805-8560-53305506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767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AC6F0-AA14-4BE5-98DF-52216240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91050"/>
            <a:ext cx="3638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The forward model is a coupled PDE.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4572CF-EFDB-4202-AB8D-2D272065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99466A-9AC9-4B3F-9072-BE157B9B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62525"/>
            <a:ext cx="3638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The answer should include uncertainty.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0C95F8-56CD-4C28-8C87-586873FB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47950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9525">
            <a:solidFill>
              <a:srgbClr val="3A465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24242-79D9-49AB-A2B8-31B3BB31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91465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What to do next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95107A-294C-41BA-AABE-F3C57259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562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183702-034A-4E5C-B01D-BB4BB311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476625"/>
            <a:ext cx="3543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Repeat experiments across true parameter pairs.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A99CDD-DFB1-4987-A493-369383A6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9338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CC01BF-B25A-41F9-A4BD-D1352237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848100"/>
            <a:ext cx="3543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Vary noise level and time sampling.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0E57CE-66CF-48BD-B53B-979EB4EB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305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9E1223-9C49-4325-9B3B-025D53F9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219575"/>
            <a:ext cx="3543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Move from grid posterior to MCMC if needed.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383F92-69FF-416D-AFC9-E583A0AA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6767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60F396-B92D-4D24-A712-A281744D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591050"/>
            <a:ext cx="3543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Add richer electrode-interface physics later.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4BC9C7-E602-494A-B671-7F2D69D7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5048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FC1933-22C4-4880-94CD-FB0C3EFE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962525"/>
            <a:ext cx="3543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DE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7DEE2"/>
                </a:solidFill>
                <a:latin typeface="Aptos"/>
                <a:ea typeface="Aptos"/>
                <a:cs typeface="Aptos"/>
              </a:rPr>
              <a:t>Keep current as the primary observable.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6918C4-CEEE-4572-9DC1-8B051C0D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53100"/>
            <a:ext cx="904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Bottom line: the pipeline is coherent enough to present, with clear assumptions and a measurable current observable.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FFF8A3-78C7-4F76-97AE-6A53A9F8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436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264F12-AEB3-40A2-84CE-CA56082A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8174"/>
                </a:solidFill>
                <a:latin typeface="Aptos"/>
                <a:ea typeface="Aptos"/>
                <a:cs typeface="Aptos"/>
              </a:rPr>
              <a:t>Conclusion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594259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2026-06-02T11:09:34.6840000Z</dcterms:created>
  <dcterms:modified xsi:type="dcterms:W3CDTF">2026-06-02T11:09:34.6840000Z</dcterms:modified>
</coreProperties>
</file>