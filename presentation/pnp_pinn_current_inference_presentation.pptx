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7ebca673f44c1b" /><Relationship Type="http://schemas.openxmlformats.org/officeDocument/2006/relationships/extended-properties" Target="/docProps/app.xml" Id="R72f60333b3db48b4" /><Relationship Type="http://schemas.openxmlformats.org/officeDocument/2006/relationships/officeDocument" Target="/ppt/presentation.xml" Id="R67212a93681f47e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6073366bce4215"/>
  </p:sldMasterIdLst>
  <p:notesMasterIdLst>
    <p:notesMasterId xmlns:r="http://schemas.openxmlformats.org/officeDocument/2006/relationships" r:id="R180cb36984f24a45"/>
  </p:notesMasterIdLst>
  <p:sldIdLst>
    <p:sldId xmlns:r="http://schemas.openxmlformats.org/officeDocument/2006/relationships" id="256" r:id="R375712ce75aa4cf2"/>
    <p:sldId xmlns:r="http://schemas.openxmlformats.org/officeDocument/2006/relationships" id="257" r:id="R562fbc457d8e41a8"/>
    <p:sldId xmlns:r="http://schemas.openxmlformats.org/officeDocument/2006/relationships" id="258" r:id="R75ec067cfee64b4b"/>
    <p:sldId xmlns:r="http://schemas.openxmlformats.org/officeDocument/2006/relationships" id="259" r:id="Raa23935e964948b3"/>
    <p:sldId xmlns:r="http://schemas.openxmlformats.org/officeDocument/2006/relationships" id="260" r:id="R149adee667bc4e86"/>
    <p:sldId xmlns:r="http://schemas.openxmlformats.org/officeDocument/2006/relationships" id="261" r:id="R17a03d912ab348e9"/>
    <p:sldId xmlns:r="http://schemas.openxmlformats.org/officeDocument/2006/relationships" id="262" r:id="R7ba7ffabdc4e4a39"/>
    <p:sldId xmlns:r="http://schemas.openxmlformats.org/officeDocument/2006/relationships" id="263" r:id="R299b5892c37b4c33"/>
    <p:sldId xmlns:r="http://schemas.openxmlformats.org/officeDocument/2006/relationships" id="264" r:id="Rfe8de09212064827"/>
    <p:sldId xmlns:r="http://schemas.openxmlformats.org/officeDocument/2006/relationships" id="265" r:id="R1961a16dea904077"/>
    <p:sldId xmlns:r="http://schemas.openxmlformats.org/officeDocument/2006/relationships" id="266" r:id="R5873627a39634f63"/>
    <p:sldId xmlns:r="http://schemas.openxmlformats.org/officeDocument/2006/relationships" id="267" r:id="R3541c70c44254a7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5ea093ca00f49cd" /><Relationship Type="http://schemas.openxmlformats.org/officeDocument/2006/relationships/slideMaster" Target="/ppt/slideMasters/slideMaster1.xml" Id="Rb76073366bce4215" /><Relationship Type="http://schemas.openxmlformats.org/officeDocument/2006/relationships/notesMaster" Target="/ppt/notesMasters/notesMaster1.xml" Id="R180cb36984f24a45" /><Relationship Type="http://schemas.openxmlformats.org/officeDocument/2006/relationships/presProps" Target="/ppt/presProps.xml" Id="Rf607b890928240d5" /><Relationship Type="http://schemas.openxmlformats.org/officeDocument/2006/relationships/viewProps" Target="/ppt/viewProps.xml" Id="R24f9e06dac6f4734" /><Relationship Type="http://schemas.openxmlformats.org/officeDocument/2006/relationships/tableStyles" Target="/ppt/tableStyles.xml" Id="R95552c6fec1845d0" /><Relationship Type="http://schemas.openxmlformats.org/officeDocument/2006/relationships/slide" Target="/ppt/slides/slide1.xml" Id="R375712ce75aa4cf2" /><Relationship Type="http://schemas.openxmlformats.org/officeDocument/2006/relationships/slide" Target="/ppt/slides/slide2.xml" Id="R562fbc457d8e41a8" /><Relationship Type="http://schemas.openxmlformats.org/officeDocument/2006/relationships/slide" Target="/ppt/slides/slide3.xml" Id="R75ec067cfee64b4b" /><Relationship Type="http://schemas.openxmlformats.org/officeDocument/2006/relationships/slide" Target="/ppt/slides/slide4.xml" Id="Raa23935e964948b3" /><Relationship Type="http://schemas.openxmlformats.org/officeDocument/2006/relationships/slide" Target="/ppt/slides/slide5.xml" Id="R149adee667bc4e86" /><Relationship Type="http://schemas.openxmlformats.org/officeDocument/2006/relationships/slide" Target="/ppt/slides/slide6.xml" Id="R17a03d912ab348e9" /><Relationship Type="http://schemas.openxmlformats.org/officeDocument/2006/relationships/slide" Target="/ppt/slides/slide7.xml" Id="R7ba7ffabdc4e4a39" /><Relationship Type="http://schemas.openxmlformats.org/officeDocument/2006/relationships/slide" Target="/ppt/slides/slide8.xml" Id="R299b5892c37b4c33" /><Relationship Type="http://schemas.openxmlformats.org/officeDocument/2006/relationships/slide" Target="/ppt/slides/slide9.xml" Id="Rfe8de09212064827" /><Relationship Type="http://schemas.openxmlformats.org/officeDocument/2006/relationships/slide" Target="/ppt/slides/slide10.xml" Id="R1961a16dea904077" /><Relationship Type="http://schemas.openxmlformats.org/officeDocument/2006/relationships/slide" Target="/ppt/slides/slide11.xml" Id="R5873627a39634f63" /><Relationship Type="http://schemas.openxmlformats.org/officeDocument/2006/relationships/slide" Target="/ppt/slides/slide12.xml" Id="R3541c70c44254a7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decd85df96d444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e5d62be97c41da" /><Relationship Type="http://schemas.openxmlformats.org/officeDocument/2006/relationships/notesMaster" Target="/ppt/notesMasters/notesMaster1.xml" Id="Re28640db02df484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521007b3b0b4d87" /><Relationship Type="http://schemas.openxmlformats.org/officeDocument/2006/relationships/notesMaster" Target="/ppt/notesMasters/notesMaster1.xml" Id="R93760ba043704c6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770f1b1871442d4" /><Relationship Type="http://schemas.openxmlformats.org/officeDocument/2006/relationships/notesMaster" Target="/ppt/notesMasters/notesMaster1.xml" Id="R1a86959088aa48e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effa19b67ae499f" /><Relationship Type="http://schemas.openxmlformats.org/officeDocument/2006/relationships/notesMaster" Target="/ppt/notesMasters/notesMaster1.xml" Id="R63e892ba8107467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632f78cf244f64" /><Relationship Type="http://schemas.openxmlformats.org/officeDocument/2006/relationships/notesMaster" Target="/ppt/notesMasters/notesMaster1.xml" Id="R38e16dd268d9484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a42484175b64da4" /><Relationship Type="http://schemas.openxmlformats.org/officeDocument/2006/relationships/notesMaster" Target="/ppt/notesMasters/notesMaster1.xml" Id="Ree50bf442c594ea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b961f443c0b4183" /><Relationship Type="http://schemas.openxmlformats.org/officeDocument/2006/relationships/notesMaster" Target="/ppt/notesMasters/notesMaster1.xml" Id="R1da6ae83face4d1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90d28de62a1481c" /><Relationship Type="http://schemas.openxmlformats.org/officeDocument/2006/relationships/notesMaster" Target="/ppt/notesMasters/notesMaster1.xml" Id="R7e630fade3f940b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87f44a667544000" /><Relationship Type="http://schemas.openxmlformats.org/officeDocument/2006/relationships/notesMaster" Target="/ppt/notesMasters/notesMaster1.xml" Id="R3aabd95bfb23474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bb79e80afdd4b57" /><Relationship Type="http://schemas.openxmlformats.org/officeDocument/2006/relationships/notesMaster" Target="/ppt/notesMasters/notesMaster1.xml" Id="R56107ca6bc6d479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7dce9ab25c442f0" /><Relationship Type="http://schemas.openxmlformats.org/officeDocument/2006/relationships/notesMaster" Target="/ppt/notesMasters/notesMaster1.xml" Id="R9779b6350534472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00c92068adc4ea5" /><Relationship Type="http://schemas.openxmlformats.org/officeDocument/2006/relationships/notesMaster" Target="/ppt/notesMasters/notesMaster1.xml" Id="Raac38f2a7577485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b50aeaf604481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ad4db1744d4944" /><Relationship Type="http://schemas.openxmlformats.org/officeDocument/2006/relationships/slideLayout" Target="/ppt/slideLayouts/slideLayout1.xml" Id="Rf6d66997a1d846c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d66997a1d846c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08445f38214fc7" /><Relationship Type="http://schemas.openxmlformats.org/officeDocument/2006/relationships/notesSlide" Target="/ppt/notesSlides/notesSlide1.xml" Id="Re8df4639206544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d5fbbc85aa4a69" /><Relationship Type="http://schemas.openxmlformats.org/officeDocument/2006/relationships/notesSlide" Target="/ppt/notesSlides/notesSlide2.xml" Id="R388f8c3d8010474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d943b460574882" /><Relationship Type="http://schemas.openxmlformats.org/officeDocument/2006/relationships/notesSlide" Target="/ppt/notesSlides/notesSlide3.xml" Id="R72e9076e637049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4220b08b47464c" /><Relationship Type="http://schemas.openxmlformats.org/officeDocument/2006/relationships/notesSlide" Target="/ppt/notesSlides/notesSlide4.xml" Id="R3a22f580ba3245c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48e64e376e4844" /><Relationship Type="http://schemas.openxmlformats.org/officeDocument/2006/relationships/notesSlide" Target="/ppt/notesSlides/notesSlide5.xml" Id="R398975d8b58643c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a60a44c1b84fc0" /><Relationship Type="http://schemas.openxmlformats.org/officeDocument/2006/relationships/notesSlide" Target="/ppt/notesSlides/notesSlide6.xml" Id="Re6ffc8cd5ef14f8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bb9149e07040ba" /><Relationship Type="http://schemas.openxmlformats.org/officeDocument/2006/relationships/notesSlide" Target="/ppt/notesSlides/notesSlide7.xml" Id="R9acf203bfcd44cf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2028b3b3954631" /><Relationship Type="http://schemas.openxmlformats.org/officeDocument/2006/relationships/notesSlide" Target="/ppt/notesSlides/notesSlide8.xml" Id="Racc49b89872e425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93714e1f3b4387" /><Relationship Type="http://schemas.openxmlformats.org/officeDocument/2006/relationships/notesSlide" Target="/ppt/notesSlides/notesSlide9.xml" Id="R8174abca72c9453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a4a21fbf374087" /><Relationship Type="http://schemas.openxmlformats.org/officeDocument/2006/relationships/image" Target="/ppt/media/image.png" Id="R8a617a87dce847c9" /><Relationship Type="http://schemas.openxmlformats.org/officeDocument/2006/relationships/notesSlide" Target="/ppt/notesSlides/notesSlide10.xml" Id="R3991808984ac475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4580641a54481c" /><Relationship Type="http://schemas.openxmlformats.org/officeDocument/2006/relationships/image" Target="/ppt/media/image2.png" Id="R3cc58311ce3c4a8e" /><Relationship Type="http://schemas.openxmlformats.org/officeDocument/2006/relationships/notesSlide" Target="/ppt/notesSlides/notesSlide11.xml" Id="R998f7f09f6374cc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77f62a8b414f56" /><Relationship Type="http://schemas.openxmlformats.org/officeDocument/2006/relationships/notesSlide" Target="/ppt/notesSlides/notesSlide12.xml" Id="Rfdd3527cfc60419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6B83CF-82E7-43B3-A744-E8500EE8F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76AF82-300F-4D15-A4BE-BFAA3923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Current-based inverse inference for a 1D PNP 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618E17-85AE-4DC5-ABB2-DB145539E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096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rPr>
              <a:t>Inferring diffusion parameters from electrode current using a PINN surrogate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18ED8F-4E50-4B2E-A837-C00A2B4E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1D Poisson-Nernst-Planck benchmark | synthetic current observations | posterior over Dp and Dn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2DC21F-24BE-4D3C-A236-83C8C50B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95750"/>
            <a:ext cx="2333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CF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EF5114-BB71-47AE-AE21-4B86B25B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2481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PNP physics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F66838-8682-42F2-9341-7444CB8FD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1485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state evolves for given Dp, Dn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ECCBD1-8BAA-4AC1-A7BF-03060405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467225"/>
            <a:ext cx="733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2F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8E62CA-FBD1-495E-9C12-68162CF8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624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2F2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2F2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4337A0-FFC7-482A-BFE5-AF0BD7CC4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95750"/>
            <a:ext cx="2667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CF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80630D-9ED3-465E-A66F-FF76404C5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248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PINN surrogate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CDAD30-73F2-490D-A4B1-C8BE3B15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5148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6666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666666"/>
                </a:solidFill>
                <a:latin typeface="Aptos Mono"/>
                <a:ea typeface="Aptos Mono"/>
                <a:cs typeface="Aptos Mono"/>
              </a:rPr>
              <a:t>(x,t,Dp,Dn) -&gt; (cp,cn,phi)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49605E-5E9A-4A84-92DB-3D5FF2B1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467225"/>
            <a:ext cx="7334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2F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DADF5D-4C8B-4690-9733-E61753E0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3624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2F2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2F2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1233A3-8C44-49F0-9411-80573866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095750"/>
            <a:ext cx="26193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CF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607C1B-9E53-4730-B5A1-3DF3EC40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4248150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Posterior inference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067961-188D-412E-AB49-69E6244C1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4514850"/>
            <a:ext cx="2000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6666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666666"/>
                </a:solidFill>
                <a:latin typeface="Aptos Mono"/>
                <a:ea typeface="Aptos Mono"/>
                <a:cs typeface="Aptos Mono"/>
              </a:rPr>
              <a:t>p(Dp,Dn | current)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50501B-7E1E-4FB2-BBBA-616B28CC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B33967-FABC-4C69-8D9B-857733B99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Jack Jia | June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0960FB-50C5-42EA-9387-02CB2740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CFEAED-3623-456F-89EE-C8FD5C233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Presentation thesis</a:t>
            </a:r>
          </a:p>
        </p:txBody>
      </p:sp>
    </p:spTree>
    <p:extLst>
      <p:ext uri="{BB962C8B-B14F-4D97-AF65-F5344CB8AC3E}">
        <p14:creationId xmlns:p14="http://schemas.microsoft.com/office/powerpoint/2010/main" val="60227807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1ADE6C-3542-4C4C-BAAB-3BBA201B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CE8191-4C6A-4986-9660-532C8232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PROBLEM STATEMENT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E58A99-998A-4A50-8AEA-6F6B0AA1E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740B0-5C72-4A2B-A608-C503A4975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FD82A1-FF39-47E5-B1C9-6C77FA383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09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rPr>
              <a:t>The inverse problem should be posed in terms of a measurable signal.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FEAED-F6C8-44FE-A97C-1B2ED85B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The hidden fields are useful for validation, but current is the observation used for inference.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0316EC-7CA5-43D9-9274-34831B76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81300"/>
            <a:ext cx="481012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CFCF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3B4A24-8F77-4FDB-A9A3-592C60D9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52750"/>
            <a:ext cx="4429125" cy="1323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111111"/>
                </a:solidFill>
                <a:latin typeface="Aptos Mono"/>
                <a:ea typeface="Aptos Mono"/>
                <a:cs typeface="Aptos Mono"/>
              </a:rPr>
              <a:t>current observations  I_obs(t)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111111"/>
                </a:solidFill>
                <a:latin typeface="Aptos Mono"/>
                <a:ea typeface="Aptos Mono"/>
                <a:cs typeface="Aptos Mono"/>
              </a:rPr>
              <a:t>        -&gt; posterior  p(Dp, Dn | I_obs)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9F4D47-18BD-402E-B4EB-3AEB7FCF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76550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DD88B9-C488-4449-A6B7-34BDC199B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00350"/>
            <a:ext cx="3543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Unknown parameters: Dp and Dn.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433EAF-720D-4F51-828B-DD779C02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90900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61B8A3-0564-491D-9378-B4BD8BB6E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14700"/>
            <a:ext cx="3543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Measured quantity: electrode current I(t).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23E444-31FD-46AE-AEC7-3B822E6E6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05250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3A2370-7589-4453-B6A5-2E425039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29050"/>
            <a:ext cx="3543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Not assumed observed: cp(x,t), cn(x,t), phi(x,t).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BE6878-FF9A-4B6E-9A79-B8331399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70CC93-E97B-48DD-A9F5-81C9BA599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Motivation: formulate the inverse problem around current</a:t>
            </a:r>
          </a:p>
        </p:txBody>
      </p:sp>
    </p:spTree>
    <p:extLst>
      <p:ext uri="{BB962C8B-B14F-4D97-AF65-F5344CB8AC3E}">
        <p14:creationId xmlns:p14="http://schemas.microsoft.com/office/powerpoint/2010/main" val="49224214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6475E4-111B-44EF-B777-622DD051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4D59BA-9E47-4BC0-B04A-ED6D501D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FORWARD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595742-3A6E-4E5F-AC9F-3911CE40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9E44C7-C6C3-4EA9-B29C-ACA42CB8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21CE1D-7A0F-4629-800C-592C5188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981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rPr>
              <a:t>The benchmark is a controlled 1D Poisson-Nernst-Planck system.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FBCD40-4AC1-4DDC-8448-10B1B8B4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51435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CFCF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F30849-4F80-4725-A878-70DFF13E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71700"/>
            <a:ext cx="4762500" cy="2228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rPr>
              <a:t>Jp = -Dp cp_x - Dp z+ cp phi_x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rPr>
              <a:t>Jn = -Dn cn_x - Dn z- cn phi_x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rPr>
              <a:t>cp_t + Jp_x = 0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rPr>
              <a:t>cn_t + Jn_x = 0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rPr>
              <a:t>-epsilon phi_xx - (z+ cp + z- cn) = 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93E4D2-F48F-43D2-AB82-0F77CE56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00250"/>
            <a:ext cx="40005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CFC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C139C6-B923-492F-A1CC-F970C4EF0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71700"/>
            <a:ext cx="3657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Active setup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F7DF82-8BD4-4341-AD9A-B57A28346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14600"/>
            <a:ext cx="36576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x in [0,1], t in [0,0.2]</a:t>
            </a:r>
          </a:p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Dp, Dn in [0.5,2.0]</a:t>
            </a:r>
          </a:p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z+ = 1, z- = -1</a:t>
            </a:r>
          </a:p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phi(0) = -0.5, phi(1) = 0.5</a:t>
            </a:r>
          </a:p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Jp = Jn = 0 at walls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C05478-7A8C-4638-99B1-4C7211D6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219700"/>
            <a:ext cx="8334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The no-flux boundary means ions do not cross the electrode. It does not mean the electrode current is zero.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846B92-B3CE-4594-9552-D3C0174D4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3B81E3-8F82-4029-A08E-9B9BC9170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Parameter reference and modeling assumptions</a:t>
            </a:r>
          </a:p>
        </p:txBody>
      </p:sp>
    </p:spTree>
    <p:extLst>
      <p:ext uri="{BB962C8B-B14F-4D97-AF65-F5344CB8AC3E}">
        <p14:creationId xmlns:p14="http://schemas.microsoft.com/office/powerpoint/2010/main" val="51297824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9A0BA0-9D57-4F85-91FE-3067B269B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34CFBD-4C2B-4DD5-AA5C-EBA362DC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PINN SURROGATE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A89DF5-B44B-43FF-9CFE-B0DB3060D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417E97-52A2-4C98-87CF-46889EF5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930095-026B-4659-866F-2C96D9AE5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9715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rPr>
              <a:t>The PINN learns a parameterized forward solution map.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2D0FE1-587D-4B4C-826B-765E16EA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383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It is not trained to output Dp and Dn directly.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63FDDA-EAA3-4D35-AEC2-A0837042D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571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CF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805FC5-0429-49DF-9D05-8C7F88204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86075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056B36-C72A-482D-A495-0642EE215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09925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(x, t, Dp, Dn)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3310E4-72AC-448E-B085-55E946F3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81350"/>
            <a:ext cx="762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2F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EA56F9-E12A-4989-A02E-C9E6AA7AC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76575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2F2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2F2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C222D2-00A0-4E86-9D19-E5CE334B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543175"/>
            <a:ext cx="25717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CFCF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645FE3-1B86-417E-B931-FF7DE1DE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857500"/>
            <a:ext cx="2000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8-layer tanh MLP</a:t>
            </a:r>
          </a:p>
          <a:p xmlns:a="http://schemas.openxmlformats.org/drawingml/2006/main">
            <a:pPr algn="l">
              <a:defRPr sz="1575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width 256</a:t>
            </a:r>
          </a:p>
          <a:p xmlns:a="http://schemas.openxmlformats.org/drawingml/2006/main">
            <a:pPr algn="l">
              <a:defRPr sz="1575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JAX / Equinox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DDE115-6418-4A61-AD49-8C29F2BD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181350"/>
            <a:ext cx="762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2F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99B3A0-7BEC-4A91-A19B-2AB8F0268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76575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2F2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2F2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59DFE7-EB1D-4D79-A1B9-488178FA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714625"/>
            <a:ext cx="2571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CFC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C31118-C334-4087-8466-1DF4B49B2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886075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75DC1F-D153-4D0B-AFC6-8C6C50D1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209925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(cp, cn, phi)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2728AC-9AFF-4528-97A3-8D7BB7BC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33950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0A2DAE-3493-4DCA-860E-D2B7B6C48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857750"/>
            <a:ext cx="8401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One trained model can be queried at many candidate parameter pairs.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766962-1A8A-4767-A408-0D7043D5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95900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568CF3-640E-44EA-B45A-F2439DF4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219700"/>
            <a:ext cx="8401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Initial concentrations and wall voltages are enforced structurally.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2BCC90-9121-40F8-8F72-A083D48C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657850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336CC9-A8F8-4F79-A27C-58346D18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581650"/>
            <a:ext cx="8401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The inverse problem uses current predicted from the PINN state.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C1C824-1F91-4B11-9145-6413AE63F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35B7F3-7255-4334-9CAB-C0625840D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What the neural network represents</a:t>
            </a:r>
          </a:p>
        </p:txBody>
      </p:sp>
    </p:spTree>
    <p:extLst>
      <p:ext uri="{BB962C8B-B14F-4D97-AF65-F5344CB8AC3E}">
        <p14:creationId xmlns:p14="http://schemas.microsoft.com/office/powerpoint/2010/main" val="49906642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321C58-F3B2-4179-9179-5D18B69E3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A2E805-A493-4482-9790-EDCA45EB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TRAINING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81EBBF-3B28-49FA-AF7B-619F07F6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1C1BBC-A2BA-47F1-B5C1-1FAA22BBD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5C578B-73F7-43BA-BA27-0AAE782FB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rPr>
              <a:t>Training enforces the PDE and the boundary conditions over parameter space.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28D0FF-D6E1-4927-8852-2B9779B99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764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Reference solutions are used for validation and synthetic data, not as the PINN training labels.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439CD-EBF9-43CD-9711-F120D4439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95550"/>
            <a:ext cx="5334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CFCF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3068EC-90E7-4FFD-8D8A-925FFBCF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67000"/>
            <a:ext cx="49530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111111"/>
                </a:solidFill>
                <a:latin typeface="Aptos Mono"/>
                <a:ea typeface="Aptos Mono"/>
                <a:cs typeface="Aptos Mono"/>
              </a:rPr>
              <a:t>Loss(theta) = PDE residuals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111111"/>
                </a:solidFill>
                <a:latin typeface="Aptos Mono"/>
                <a:ea typeface="Aptos Mono"/>
                <a:cs typeface="Aptos Mono"/>
              </a:rPr>
              <a:t>            + initial / boundary residuals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111111"/>
                </a:solidFill>
                <a:latin typeface="Aptos Mono"/>
                <a:ea typeface="Aptos Mono"/>
                <a:cs typeface="Aptos Mono"/>
              </a:rPr>
              <a:t>            + parameter-domain sampling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6871C3-A857-44FE-8770-2D6687E93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52700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53114B-82A0-4B34-99A2-A7688773F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476500"/>
            <a:ext cx="3257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500000 Adam steps in the current completed run.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4A5251-1975-448B-AE29-1C0BE82A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05150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C36EA1-3A48-461C-B071-8F7964B5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28950"/>
            <a:ext cx="3257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The collocation points include x, t, Dp, and Dn.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8C3705-E0DF-479A-B262-C43FDE4F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657600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EC1943-466E-4CFB-8708-027C2C88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581400"/>
            <a:ext cx="3257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The result is a reusable forward surrogate.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A99749-E7E1-4698-8B17-596B7E72D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48250"/>
            <a:ext cx="857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This is why the PINN matters: it turns a family of PDE solves into a trained map that can be evaluated repeatedly.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DF7F62-7197-4C26-B0C9-61D41213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6EE869-139F-46C8-861B-920292AFA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Training objective and role of the reference solver</a:t>
            </a:r>
          </a:p>
        </p:txBody>
      </p:sp>
    </p:spTree>
    <p:extLst>
      <p:ext uri="{BB962C8B-B14F-4D97-AF65-F5344CB8AC3E}">
        <p14:creationId xmlns:p14="http://schemas.microsoft.com/office/powerpoint/2010/main" val="88162443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C66993-58ED-4CB5-8F9B-B50C33301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52A9B9-D467-44DC-96F7-CB1518B0E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AMORTIZATION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025B17-A62C-486B-A3E4-A153B2080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DB6575-9B70-4006-99B8-36A05E374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9DE331-4B0F-40F9-AC6F-19E848BC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191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rPr>
              <a:t>The computational argument is amortized inference, not faster one-off training.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0C274A-20AD-44FA-897D-4200C697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38375"/>
            <a:ext cx="41910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CF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4EFF9A-F092-468F-8E76-4691A2DD2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955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Without a surrogate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6D1743-9F24-47CD-B3BC-1AE19AB1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250"/>
            <a:ext cx="3048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candidate (Dp,Dn)</a:t>
            </a:r>
          </a:p>
          <a:p xmlns:a="http://schemas.openxmlformats.org/drawingml/2006/main">
            <a:pPr algn="l">
              <a:defRPr sz="1575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       -&gt; benchmark solve</a:t>
            </a:r>
          </a:p>
          <a:p xmlns:a="http://schemas.openxmlformats.org/drawingml/2006/main">
            <a:pPr algn="l">
              <a:defRPr sz="1575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       -&gt; current prediction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8ABB98-89C1-464A-AB57-F1FA007A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38375"/>
            <a:ext cx="41910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CF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FD0226-781A-4417-9BD3-3B403FC1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955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With a trained PINN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6DD9B6-1241-488A-88AF-893CD4BD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43250"/>
            <a:ext cx="3048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candidate (Dp,Dn)</a:t>
            </a:r>
          </a:p>
          <a:p xmlns:a="http://schemas.openxmlformats.org/drawingml/2006/main">
            <a:pPr algn="l">
              <a:defRPr sz="1575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       -&gt; PINN evaluation</a:t>
            </a:r>
          </a:p>
          <a:p xmlns:a="http://schemas.openxmlformats.org/drawingml/2006/main">
            <a:pPr algn="l">
              <a:defRPr sz="1575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575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       -&gt; current prediction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A74602-2B97-4CF9-9216-9B96B7AAD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400425"/>
            <a:ext cx="14668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2F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557131-9C33-4FEF-A373-00EB03E26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956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2F2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2F2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D16C93-B3D0-4ADE-9EA6-16E6C1E72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147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many likelihood evaluations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998DE5-DE9F-417C-B9FC-7C5B8555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91125"/>
            <a:ext cx="857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The benefit appears when the same trained surrogate is reused across a grid posterior, MCMC, or repeated inverse experiments.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8FD0B1-0DBB-4A5A-9985-9FAE29045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9DC2A7-72BE-4129-9C7A-ECB42CF40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Why a PINN is useful for the inverse problem</a:t>
            </a:r>
          </a:p>
        </p:txBody>
      </p:sp>
    </p:spTree>
    <p:extLst>
      <p:ext uri="{BB962C8B-B14F-4D97-AF65-F5344CB8AC3E}">
        <p14:creationId xmlns:p14="http://schemas.microsoft.com/office/powerpoint/2010/main" val="13488723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BC8468-37FA-4B68-A546-BFC37718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DF6800-EE8F-435F-958E-2452AC27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OBSERVABLE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81FAC7-FF9C-4F8B-B22E-85152BC9A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278A39-0580-49C4-B592-173EB3E5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E7F59D-2F08-4DE5-88A3-88B1A6B8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rPr>
              <a:t>The real observable is current; Q(t) is only a simulation-side construction.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BB703B-4665-48D1-9903-391D1FF8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40957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CF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2C933F-E8E6-43DF-AD01-FEDC335E9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Experiment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6382DB-E422-4B79-AA9F-8D6354DC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19400"/>
            <a:ext cx="37528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2175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external circuit</a:t>
            </a:r>
          </a:p>
          <a:p xmlns:a="http://schemas.openxmlformats.org/drawingml/2006/main">
            <a:pPr algn="l">
              <a:defRPr sz="2175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2175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measures I(t)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478349-44B7-431E-9420-D6B2C534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05050"/>
            <a:ext cx="47625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CFCF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697FA4-1615-4738-AE75-B10B86717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4381500" cy="1609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111111"/>
                </a:solidFill>
                <a:latin typeface="Aptos Mono"/>
                <a:ea typeface="Aptos Mono"/>
                <a:cs typeface="Aptos Mono"/>
              </a:rPr>
              <a:t>PNP state -&gt; rho(x,t) -&gt; Q_L(t)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111111"/>
                </a:solidFill>
                <a:latin typeface="Aptos Mono"/>
                <a:ea typeface="Aptos Mono"/>
                <a:cs typeface="Aptos Mono"/>
              </a:rPr>
              <a:t>I_k = (Q_L(t_{k+1}) - Q_L(t_k)) / delta 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A60B8-8F6A-402F-90B7-A38D8A6D1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48250"/>
            <a:ext cx="923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The Q(t) route avoids unstable boundary derivatives when computing current from the simulated state. It is not the measurement itself.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38321C-B29D-4DAF-8B89-9D63C7DEF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1013E0-4074-4EE0-9010-282158032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Current measurement and synthetic current construction</a:t>
            </a:r>
          </a:p>
        </p:txBody>
      </p:sp>
    </p:spTree>
    <p:extLst>
      <p:ext uri="{BB962C8B-B14F-4D97-AF65-F5344CB8AC3E}">
        <p14:creationId xmlns:p14="http://schemas.microsoft.com/office/powerpoint/2010/main" val="190558991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CDEBE5-4AA9-46D2-BB1C-84A1F132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74BAE0-33E7-4820-9242-E626E7571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SYNTHETIC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B25200-5D56-4714-AA7A-2344DC17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0064C2-BA8B-40C2-BDD5-5738F8CC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70E053-6C6D-4284-A209-7BB5589D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rPr>
              <a:t>Synthetic observations are generated independently of the PINN.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0D169F-6DC2-4761-9577-7963E4E7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38300"/>
            <a:ext cx="857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This separates the benchmark data source from the surrogate being tested.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F0566A-A965-4CE0-A8EF-B64292C1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0375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CF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7840AE-9802-4EE9-AF5C-1D0FB4A7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52775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True case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A5AD95-4FC7-4159-84AB-896198D52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19475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Dp = 1.25</a:t>
            </a:r>
          </a:p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Dn = 1.25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064F4D-1DB2-4B8A-85CD-67385AFAD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38525"/>
            <a:ext cx="7429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2F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81AD17-B3D3-49AB-B6DA-6C4CEC39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337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2F2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2F2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24E66D-779A-4BEF-BBC6-41EBF8681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000375"/>
            <a:ext cx="2476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CF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A5291F-31C1-4FA9-9F84-7FBFFC9E0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152775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Reference solver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C41E65-E778-4E2B-B559-08FFF390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419475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finite difference</a:t>
            </a:r>
          </a:p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BDF integration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5AAA9C-4820-4041-AC1F-C22C5B394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38525"/>
            <a:ext cx="7429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2F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6A9667-3D88-47DE-9FDA-4591D327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3337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2F2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2F2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AF450E-5585-4A6F-B9AE-3E16ECC8E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000375"/>
            <a:ext cx="171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CFC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4694C6-6435-41DE-BC70-F7BBA88E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152775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Noise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025385-CAA0-4D22-B805-D55C9D54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476625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2% Gaussian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DB0C61-2656-4E1B-9C65-70337A36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438525"/>
            <a:ext cx="6381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2F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E151F0-C7DB-4924-B44A-F818CF95E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33337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2F2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2F2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BE22E5-BF01-4A71-ADCB-20882F7B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000375"/>
            <a:ext cx="742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CFC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C0B38B-F269-4BCB-BB3A-0A438171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3209925"/>
            <a:ext cx="428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79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BD1B8D-A118-444F-8CAF-B6C95C76C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552825"/>
            <a:ext cx="5238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points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28022C-2CCA-4079-B7EF-525F67FE0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53000"/>
            <a:ext cx="857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The resulting data are noisy electrode-current observations for the inverse problem.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A4BB35-96A5-4719-B280-6EA36723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EDB13B-AE62-4B95-B5A7-D2AAE39C7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Reference solver -&gt; synthetic current data</a:t>
            </a:r>
          </a:p>
        </p:txBody>
      </p:sp>
    </p:spTree>
    <p:extLst>
      <p:ext uri="{BB962C8B-B14F-4D97-AF65-F5344CB8AC3E}">
        <p14:creationId xmlns:p14="http://schemas.microsoft.com/office/powerpoint/2010/main" val="116001036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92D4FA-DBFE-4925-9A79-3A936DB8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D9DFA4-12A8-4278-BC94-DBC939F7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INFERENCE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F5BC58-76AF-4934-88B6-8BA141EF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F8175-82C6-4155-A0AC-A4E2F138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C167E5-2FC4-4D0A-8D65-4BF5D0DA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47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rPr>
              <a:t>The posterior is built by comparing observed current to PINN-predicted current.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9BA2C6-9BB3-424A-9747-31DF2514A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4762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CFCF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E175E6-D21C-4228-B82C-F000B43DD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19350"/>
            <a:ext cx="4381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rPr>
              <a:t>I_obs,k = I_PINN,k(Dp,Dn) + eps_k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rPr>
              <a:t>eps_k ~ Normal(0, sigma^2)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rPr>
              <a:t>r_k = (I_PINN,k - I_obs,k) / sigma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409119-E640-4E1D-8A87-B5C01919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47900"/>
            <a:ext cx="4667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CFCFC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AEF2E4-1C43-4EBA-BA22-75912A3C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19350"/>
            <a:ext cx="42862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rPr>
              <a:t>p(Dp,Dn | I_obs)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rPr>
              <a:t>  proportional 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111"/>
                </a:solidFill>
                <a:latin typeface="Aptos Mono"/>
                <a:ea typeface="Aptos Mono"/>
                <a:cs typeface="Aptos Mono"/>
              </a:rPr>
              <a:t>exp(-0.5 sum_k r_k^2) x prior(Dp,Dn)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F9577B-0CD1-4547-BBFE-5C1802D4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19700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09B7B2-FDE4-48A9-8723-5BB2DAE3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143500"/>
            <a:ext cx="763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Uniform prior over the 41 x 41 parameter grid.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1AD245-E119-417E-950F-EEEB2CE0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581650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D90FB9-F07C-4873-BE57-5A161D9F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505450"/>
            <a:ext cx="763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The output is a distribution, not just a point estimate.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747A4F-F638-4CAA-BF9B-6D442ABE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57A8E8-4333-4C00-B2DC-E2EE841D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Gaussian current likelihood and grid posterior</a:t>
            </a:r>
          </a:p>
        </p:txBody>
      </p:sp>
    </p:spTree>
    <p:extLst>
      <p:ext uri="{BB962C8B-B14F-4D97-AF65-F5344CB8AC3E}">
        <p14:creationId xmlns:p14="http://schemas.microsoft.com/office/powerpoint/2010/main" val="128848766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DE9D4F-A244-4ABE-9BF9-9F340FC5A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961CDA-7659-4EFE-946B-7CD23E4E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CURRENT FIT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0E1AAC-9E49-4BE0-99B5-C419AFAA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7B56A-C113-4834-8EC3-056078B2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06A0ED-363B-4846-821C-0347AB5B2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47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rPr>
              <a:t>At the MAP point, the PINN matches the observed current at the noise level.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617a87dce847c9"/>
          <a:stretch xmlns:a="http://schemas.openxmlformats.org/drawingml/2006/main"/>
        </p:blipFill>
        <p:spPr>
          <a:xfrm xmlns:a="http://schemas.openxmlformats.org/drawingml/2006/main">
            <a:off x="1047750" y="1771650"/>
            <a:ext cx="7429500" cy="433387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5760FE-E75E-49E2-A084-9B4145DA1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3812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2AB3DE-C5FF-4C8D-85CD-111BBFA4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714625"/>
            <a:ext cx="1714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Dp = 1.25</a:t>
            </a:r>
          </a:p>
          <a:p xmlns:a="http://schemas.openxmlformats.org/drawingml/2006/main">
            <a:pPr algn="l">
              <a:defRPr sz="1500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Dn = 1.2125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34E361-9F99-4A5A-B7BD-D825510BF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857625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Observations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3FD64A-346C-4203-941A-DD4CB9D0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1719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79 current intervals</a:t>
            </a:r>
          </a:p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2% relative noise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65002B-6782-44EB-BE85-4C790437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E23443-A041-4CDB-AA84-F21B0A39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Current fit evaluated on the likelihood signal</a:t>
            </a:r>
          </a:p>
        </p:txBody>
      </p:sp>
    </p:spTree>
    <p:extLst>
      <p:ext uri="{BB962C8B-B14F-4D97-AF65-F5344CB8AC3E}">
        <p14:creationId xmlns:p14="http://schemas.microsoft.com/office/powerpoint/2010/main" val="153999273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2A84A3-8D66-4617-BD78-444000222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5B1269-D46C-4E8A-B568-B3B31330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POSTERIOR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ABFCF9-07EF-4BA8-95F4-3EC99954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B42E4F-5616-4307-8EAB-662998DC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DD7CCD-B1CD-4375-8851-46EAE5EE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rPr>
              <a:t>The posterior contains the true parameters and shows coupled uncertainty.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c58311ce3c4a8e"/>
          <a:stretch xmlns:a="http://schemas.openxmlformats.org/drawingml/2006/main"/>
        </p:blipFill>
        <p:spPr>
          <a:xfrm xmlns:a="http://schemas.openxmlformats.org/drawingml/2006/main">
            <a:off x="983912" y="1733550"/>
            <a:ext cx="4794926" cy="433387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C712C3-91D3-4126-AE80-30FC6BD15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955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True parameters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CB6B71-8630-4CAB-84B6-6AF64851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0030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Dp = 1.25, Dn = 1.25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026D60-05CA-4117-87DF-CA4BC0D5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432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Posterior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42A6D5-637A-42EC-9011-BB3AD84F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4805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Dp = 1.2353</a:t>
            </a:r>
          </a:p>
          <a:p xmlns:a="http://schemas.openxmlformats.org/drawingml/2006/main">
            <a:pPr algn="l">
              <a:defRPr sz="1500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Dn = 1.2368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F9A39D-E6DA-4DA6-A7C2-1EA3A4690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24375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95% marginal intervals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00EA43-6B6C-4861-B860-35642954E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29175"/>
            <a:ext cx="342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Dp: [1.0625, 1.4000]</a:t>
            </a:r>
          </a:p>
          <a:p xmlns:a="http://schemas.openxmlformats.org/drawingml/2006/main">
            <a:pPr algn="l">
              <a:defRPr sz="1500" b="0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Dn: [1.0625, 1.4375]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BFDDA-5C72-4D73-A822-E06015F9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7150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The true values are covered.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DF0032-4AF8-4C6E-ACDB-6B1E868A3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94D9A6-F39F-4403-860D-AC82B4633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Posterior over diffusion parameters from current observations</a:t>
            </a:r>
          </a:p>
        </p:txBody>
      </p:sp>
    </p:spTree>
    <p:extLst>
      <p:ext uri="{BB962C8B-B14F-4D97-AF65-F5344CB8AC3E}">
        <p14:creationId xmlns:p14="http://schemas.microsoft.com/office/powerpoint/2010/main" val="144946496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454152-A8E0-4D8C-97C4-C7030BE0D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7903E2-8911-432E-B85E-F4FA2A2A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6666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EA0A29-54B8-4CF9-B771-EBE85856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619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0CB345-FDFE-470F-8C71-6EEDAD16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7FB4DD-0A2B-4196-86FB-CA20C20D6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47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11111"/>
                </a:solidFill>
                <a:latin typeface="Aptos Display"/>
                <a:ea typeface="Aptos Display"/>
                <a:cs typeface="Aptos Display"/>
              </a:rPr>
              <a:t>The current result is a controlled proof of concept for PINN-based inverse inference.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9B6ED4-46E4-4ED1-8C08-D2EC20249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9825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0BB1EE-5FAB-48A5-A50C-7C2F09505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333625"/>
            <a:ext cx="868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The observation model is current-based and experimentally meaningful.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739839-B95D-4C0C-845C-69E306F2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000375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AE18FC-2293-4AE9-8BEC-2F30AFCD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924175"/>
            <a:ext cx="868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The PINN is used as a reusable forward surrogate, not as the data source.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8CED6D-7593-48FD-9F61-D784BD8C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90925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D60A23-D85F-4458-9EFB-13F8BBC54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514725"/>
            <a:ext cx="868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The posterior result answers the inverse question with uncertainty.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F7E2BB-1BCB-4579-A67E-4B7403BDE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810125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20FD12-4352-45BD-B549-FF8EA80F3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143500"/>
            <a:ext cx="8763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66666"/>
                </a:solidFill>
                <a:latin typeface="Aptos"/>
                <a:ea typeface="Aptos"/>
                <a:cs typeface="Aptos"/>
              </a:rPr>
              <a:t>Repeat the experiment across true parameter pairs, vary the noise model and time sampling, then replace the grid posterior by MCMC if needed.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ADF3DB-99A4-4D8C-B039-8213156C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37A102-97CB-4110-B953-85D009C6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Conclusion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17438076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2026-06-02T11:31:37.3890000Z</dcterms:created>
  <dcterms:modified xsi:type="dcterms:W3CDTF">2026-06-02T11:31:37.3890000Z</dcterms:modified>
</coreProperties>
</file>